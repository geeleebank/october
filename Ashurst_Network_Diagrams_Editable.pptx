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6243" y="44762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Journey: Internet to Ashurst Offices</a:t>
            </a:r>
            <a:endParaRPr lang="en-US" sz="2000" dirty="0"/>
          </a:p>
        </p:txBody>
      </p:sp>
      <p:sp>
        <p:nvSpPr>
          <p:cNvPr id="3" name="Internet - box"/>
          <p:cNvSpPr/>
          <p:nvPr/>
        </p:nvSpPr>
        <p:spPr>
          <a:xfrm>
            <a:off x="465339" y="1496071"/>
            <a:ext cx="1127921" cy="827748"/>
          </a:xfrm>
          <a:prstGeom prst="roundRect">
            <a:avLst>
              <a:gd name="adj" fmla="val 38664"/>
            </a:avLst>
          </a:prstGeom>
          <a:solidFill>
            <a:srgbClr val="FFFFFF"/>
          </a:solidFill>
          <a:ln w="15875">
            <a:solidFill>
              <a:srgbClr val="1F1F1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nternet -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355" y="1800217"/>
            <a:ext cx="219456" cy="219456"/>
          </a:xfrm>
          <a:prstGeom prst="rect">
            <a:avLst/>
          </a:prstGeom>
        </p:spPr>
      </p:pic>
      <p:sp>
        <p:nvSpPr>
          <p:cNvPr id="5" name="Internet - text"/>
          <p:cNvSpPr txBox="1"/>
          <p:nvPr/>
        </p:nvSpPr>
        <p:spPr>
          <a:xfrm>
            <a:off x="904251" y="1496071"/>
            <a:ext cx="597569" cy="827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6" name="Palo Alto - box"/>
          <p:cNvSpPr/>
          <p:nvPr/>
        </p:nvSpPr>
        <p:spPr>
          <a:xfrm>
            <a:off x="2266374" y="1427850"/>
            <a:ext cx="1418997" cy="968739"/>
          </a:xfrm>
          <a:prstGeom prst="roundRect">
            <a:avLst>
              <a:gd name="adj" fmla="val 33037"/>
            </a:avLst>
          </a:prstGeom>
          <a:solidFill>
            <a:srgbClr val="FFFFFF"/>
          </a:solidFill>
          <a:ln w="15875">
            <a:solidFill>
              <a:srgbClr val="E31B2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Palo Alto -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390" y="1802491"/>
            <a:ext cx="219456" cy="219456"/>
          </a:xfrm>
          <a:prstGeom prst="rect">
            <a:avLst/>
          </a:prstGeom>
        </p:spPr>
      </p:pic>
      <p:sp>
        <p:nvSpPr>
          <p:cNvPr id="8" name="Palo Alto - text"/>
          <p:cNvSpPr txBox="1"/>
          <p:nvPr/>
        </p:nvSpPr>
        <p:spPr>
          <a:xfrm>
            <a:off x="2705286" y="1427850"/>
            <a:ext cx="888645" cy="96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Front-Door Guard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envelope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open it</a:t>
            </a:r>
            <a:endParaRPr lang="en-US" sz="900" dirty="0"/>
          </a:p>
        </p:txBody>
      </p:sp>
      <p:sp>
        <p:nvSpPr>
          <p:cNvPr id="9" name="FortiADC - box"/>
          <p:cNvSpPr/>
          <p:nvPr/>
        </p:nvSpPr>
        <p:spPr>
          <a:xfrm>
            <a:off x="4403966" y="1427850"/>
            <a:ext cx="1428093" cy="968739"/>
          </a:xfrm>
          <a:prstGeom prst="roundRect">
            <a:avLst>
              <a:gd name="adj" fmla="val 33037"/>
            </a:avLst>
          </a:prstGeom>
          <a:solidFill>
            <a:srgbClr val="FFFFFF"/>
          </a:solidFill>
          <a:ln w="15875">
            <a:solidFill>
              <a:srgbClr val="E31B2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FortiADC -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982" y="1802491"/>
            <a:ext cx="219456" cy="219456"/>
          </a:xfrm>
          <a:prstGeom prst="rect">
            <a:avLst/>
          </a:prstGeom>
        </p:spPr>
      </p:pic>
      <p:sp>
        <p:nvSpPr>
          <p:cNvPr id="11" name="FortiADC - text"/>
          <p:cNvSpPr txBox="1"/>
          <p:nvPr/>
        </p:nvSpPr>
        <p:spPr>
          <a:xfrm>
            <a:off x="4842878" y="1427850"/>
            <a:ext cx="897741" cy="96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FortiADC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Mailroom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+ reads the letter</a:t>
            </a:r>
            <a:endParaRPr lang="en-US" sz="900" dirty="0"/>
          </a:p>
        </p:txBody>
      </p:sp>
      <p:sp>
        <p:nvSpPr>
          <p:cNvPr id="12" name="App VLAN - box"/>
          <p:cNvSpPr/>
          <p:nvPr/>
        </p:nvSpPr>
        <p:spPr>
          <a:xfrm>
            <a:off x="7969652" y="1427850"/>
            <a:ext cx="1428093" cy="968739"/>
          </a:xfrm>
          <a:prstGeom prst="roundRect">
            <a:avLst>
              <a:gd name="adj" fmla="val 33037"/>
            </a:avLst>
          </a:prstGeom>
          <a:solidFill>
            <a:srgbClr val="FFFFFF"/>
          </a:solidFill>
          <a:ln w="15875">
            <a:solidFill>
              <a:srgbClr val="E31B2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App VLAN -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668" y="1802491"/>
            <a:ext cx="219456" cy="219456"/>
          </a:xfrm>
          <a:prstGeom prst="rect">
            <a:avLst/>
          </a:prstGeom>
        </p:spPr>
      </p:pic>
      <p:sp>
        <p:nvSpPr>
          <p:cNvPr id="14" name="App VLAN - text"/>
          <p:cNvSpPr txBox="1"/>
          <p:nvPr/>
        </p:nvSpPr>
        <p:spPr>
          <a:xfrm>
            <a:off x="8408564" y="1427850"/>
            <a:ext cx="897741" cy="96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App's Own Room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VLAN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room per app</a:t>
            </a:r>
            <a:endParaRPr lang="en-US" sz="900" dirty="0"/>
          </a:p>
        </p:txBody>
      </p:sp>
      <p:sp>
        <p:nvSpPr>
          <p:cNvPr id="15" name="FortiGate - box"/>
          <p:cNvSpPr/>
          <p:nvPr/>
        </p:nvSpPr>
        <p:spPr>
          <a:xfrm>
            <a:off x="7969652" y="3233433"/>
            <a:ext cx="1428093" cy="968739"/>
          </a:xfrm>
          <a:prstGeom prst="roundRect">
            <a:avLst>
              <a:gd name="adj" fmla="val 33037"/>
            </a:avLst>
          </a:prstGeom>
          <a:solidFill>
            <a:srgbClr val="FFFFFF"/>
          </a:solidFill>
          <a:ln w="15875">
            <a:solidFill>
              <a:srgbClr val="E31B2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FortiGate -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668" y="3608074"/>
            <a:ext cx="219456" cy="219456"/>
          </a:xfrm>
          <a:prstGeom prst="rect">
            <a:avLst/>
          </a:prstGeom>
        </p:spPr>
      </p:pic>
      <p:sp>
        <p:nvSpPr>
          <p:cNvPr id="17" name="FortiGate - text"/>
          <p:cNvSpPr txBox="1"/>
          <p:nvPr/>
        </p:nvSpPr>
        <p:spPr>
          <a:xfrm>
            <a:off x="8408564" y="3233433"/>
            <a:ext cx="897741" cy="96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Office Door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answer = NO</a:t>
            </a:r>
            <a:endParaRPr lang="en-US" sz="900" dirty="0"/>
          </a:p>
        </p:txBody>
      </p:sp>
      <p:sp>
        <p:nvSpPr>
          <p:cNvPr id="18" name="Ashurst Offices - box"/>
          <p:cNvSpPr/>
          <p:nvPr/>
        </p:nvSpPr>
        <p:spPr>
          <a:xfrm>
            <a:off x="10380128" y="3233433"/>
            <a:ext cx="1409901" cy="968739"/>
          </a:xfrm>
          <a:prstGeom prst="roundRect">
            <a:avLst>
              <a:gd name="adj" fmla="val 33037"/>
            </a:avLst>
          </a:prstGeom>
          <a:solidFill>
            <a:srgbClr val="E31B23"/>
          </a:solidFill>
          <a:ln w="15875">
            <a:solidFill>
              <a:srgbClr val="1F1F1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Ashurst Offices -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8144" y="3608074"/>
            <a:ext cx="219456" cy="219456"/>
          </a:xfrm>
          <a:prstGeom prst="rect">
            <a:avLst/>
          </a:prstGeom>
        </p:spPr>
      </p:pic>
      <p:sp>
        <p:nvSpPr>
          <p:cNvPr id="20" name="Ashurst Offices - text"/>
          <p:cNvSpPr txBox="1"/>
          <p:nvPr/>
        </p:nvSpPr>
        <p:spPr>
          <a:xfrm>
            <a:off x="10819040" y="3233433"/>
            <a:ext cx="879549" cy="96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Ashurst Offices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Network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the line</a:t>
            </a:r>
            <a:endParaRPr lang="en-US" sz="900" dirty="0"/>
          </a:p>
        </p:txBody>
      </p:sp>
      <p:sp>
        <p:nvSpPr>
          <p:cNvPr id="21" name="Exception App - box"/>
          <p:cNvSpPr/>
          <p:nvPr/>
        </p:nvSpPr>
        <p:spPr>
          <a:xfrm>
            <a:off x="3785429" y="5043564"/>
            <a:ext cx="1428093" cy="909614"/>
          </a:xfrm>
          <a:prstGeom prst="roundRect">
            <a:avLst>
              <a:gd name="adj" fmla="val 35184"/>
            </a:avLst>
          </a:prstGeom>
          <a:solidFill>
            <a:srgbClr val="FFFFFF"/>
          </a:solidFill>
          <a:ln w="15875">
            <a:solidFill>
              <a:srgbClr val="F28C0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Exception App -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3445" y="5388643"/>
            <a:ext cx="219456" cy="219456"/>
          </a:xfrm>
          <a:prstGeom prst="rect">
            <a:avLst/>
          </a:prstGeom>
        </p:spPr>
      </p:pic>
      <p:sp>
        <p:nvSpPr>
          <p:cNvPr id="23" name="Exception App - text"/>
          <p:cNvSpPr txBox="1"/>
          <p:nvPr/>
        </p:nvSpPr>
        <p:spPr>
          <a:xfrm>
            <a:off x="4224341" y="5043564"/>
            <a:ext cx="897741" cy="90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App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its own post</a:t>
            </a:r>
            <a:endParaRPr lang="en-US" sz="900" dirty="0"/>
          </a:p>
        </p:txBody>
      </p:sp>
      <p:sp>
        <p:nvSpPr>
          <p:cNvPr id="24" name="SD-WAN EdgeConnect - box"/>
          <p:cNvSpPr/>
          <p:nvPr/>
        </p:nvSpPr>
        <p:spPr>
          <a:xfrm>
            <a:off x="7969652" y="5043564"/>
            <a:ext cx="1428093" cy="909614"/>
          </a:xfrm>
          <a:prstGeom prst="roundRect">
            <a:avLst>
              <a:gd name="adj" fmla="val 35184"/>
            </a:avLst>
          </a:prstGeom>
          <a:solidFill>
            <a:srgbClr val="FFFFFF"/>
          </a:solidFill>
          <a:ln w="15875">
            <a:solidFill>
              <a:srgbClr val="0EA5E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SD-WAN EdgeConnect -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7668" y="5388643"/>
            <a:ext cx="219456" cy="219456"/>
          </a:xfrm>
          <a:prstGeom prst="rect">
            <a:avLst/>
          </a:prstGeom>
        </p:spPr>
      </p:pic>
      <p:sp>
        <p:nvSpPr>
          <p:cNvPr id="26" name="SD-WAN EdgeConnect - text"/>
          <p:cNvSpPr txBox="1"/>
          <p:nvPr/>
        </p:nvSpPr>
        <p:spPr>
          <a:xfrm>
            <a:off x="8408564" y="5043564"/>
            <a:ext cx="897741" cy="90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SD-WAN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EdgeConnect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sites</a:t>
            </a:r>
            <a:endParaRPr lang="en-US" sz="900" dirty="0"/>
          </a:p>
        </p:txBody>
      </p:sp>
      <p:sp>
        <p:nvSpPr>
          <p:cNvPr id="27" name="Main Line"/>
          <p:cNvSpPr/>
          <p:nvPr/>
        </p:nvSpPr>
        <p:spPr>
          <a:xfrm>
            <a:off x="1593260" y="1905397"/>
            <a:ext cx="673114" cy="0"/>
          </a:xfrm>
          <a:prstGeom prst="line">
            <a:avLst/>
          </a:prstGeom>
          <a:noFill/>
          <a:ln w="19050">
            <a:solidFill>
              <a:srgbClr val="E31B23"/>
            </a:solidFill>
            <a:prstDash val="solid"/>
            <a:tailEnd type="triangle"/>
          </a:ln>
        </p:spPr>
      </p:sp>
      <p:sp>
        <p:nvSpPr>
          <p:cNvPr id="28" name="Main Line label"/>
          <p:cNvSpPr txBox="1"/>
          <p:nvPr/>
        </p:nvSpPr>
        <p:spPr>
          <a:xfrm>
            <a:off x="1646353" y="1795669"/>
            <a:ext cx="56692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Line</a:t>
            </a:r>
            <a:endParaRPr lang="en-US" sz="900" dirty="0"/>
          </a:p>
        </p:txBody>
      </p:sp>
      <p:sp>
        <p:nvSpPr>
          <p:cNvPr id="29" name="Still sealed"/>
          <p:cNvSpPr/>
          <p:nvPr/>
        </p:nvSpPr>
        <p:spPr>
          <a:xfrm>
            <a:off x="3685371" y="1905397"/>
            <a:ext cx="718595" cy="0"/>
          </a:xfrm>
          <a:prstGeom prst="line">
            <a:avLst/>
          </a:prstGeom>
          <a:noFill/>
          <a:ln w="19050">
            <a:solidFill>
              <a:srgbClr val="E31B23"/>
            </a:solidFill>
            <a:prstDash val="solid"/>
            <a:tailEnd type="triangle"/>
          </a:ln>
        </p:spPr>
      </p:sp>
      <p:sp>
        <p:nvSpPr>
          <p:cNvPr id="30" name="Still sealed label"/>
          <p:cNvSpPr txBox="1"/>
          <p:nvPr/>
        </p:nvSpPr>
        <p:spPr>
          <a:xfrm>
            <a:off x="3733773" y="1795669"/>
            <a:ext cx="621792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sealed</a:t>
            </a:r>
            <a:endParaRPr lang="en-US" sz="900" dirty="0"/>
          </a:p>
        </p:txBody>
      </p:sp>
      <p:sp>
        <p:nvSpPr>
          <p:cNvPr id="31" name="Checked + clean"/>
          <p:cNvSpPr/>
          <p:nvPr/>
        </p:nvSpPr>
        <p:spPr>
          <a:xfrm>
            <a:off x="5832060" y="1905397"/>
            <a:ext cx="2137592" cy="0"/>
          </a:xfrm>
          <a:prstGeom prst="line">
            <a:avLst/>
          </a:prstGeom>
          <a:noFill/>
          <a:ln w="19050">
            <a:solidFill>
              <a:srgbClr val="E31B23"/>
            </a:solidFill>
            <a:prstDash val="solid"/>
            <a:tailEnd type="triangle"/>
          </a:ln>
        </p:spPr>
      </p:sp>
      <p:sp>
        <p:nvSpPr>
          <p:cNvPr id="32" name="Checked + clean label"/>
          <p:cNvSpPr txBox="1"/>
          <p:nvPr/>
        </p:nvSpPr>
        <p:spPr>
          <a:xfrm>
            <a:off x="6397936" y="1795669"/>
            <a:ext cx="10058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+ clean</a:t>
            </a:r>
            <a:endParaRPr lang="en-US" sz="1000" dirty="0"/>
          </a:p>
        </p:txBody>
      </p:sp>
      <p:sp>
        <p:nvSpPr>
          <p:cNvPr id="33" name="Needs internal data"/>
          <p:cNvSpPr/>
          <p:nvPr/>
        </p:nvSpPr>
        <p:spPr>
          <a:xfrm>
            <a:off x="8683699" y="2396588"/>
            <a:ext cx="0" cy="836845"/>
          </a:xfrm>
          <a:prstGeom prst="line">
            <a:avLst/>
          </a:prstGeom>
          <a:noFill/>
          <a:ln w="19050">
            <a:solidFill>
              <a:srgbClr val="E31B23"/>
            </a:solidFill>
            <a:prstDash val="solid"/>
            <a:tailEnd type="triangle"/>
          </a:ln>
        </p:spPr>
      </p:sp>
      <p:sp>
        <p:nvSpPr>
          <p:cNvPr id="34" name="Needs internal data label"/>
          <p:cNvSpPr txBox="1"/>
          <p:nvPr/>
        </p:nvSpPr>
        <p:spPr>
          <a:xfrm>
            <a:off x="8043619" y="2696187"/>
            <a:ext cx="12801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internal data?</a:t>
            </a:r>
            <a:endParaRPr lang="en-US" sz="1000" dirty="0"/>
          </a:p>
        </p:txBody>
      </p:sp>
      <p:sp>
        <p:nvSpPr>
          <p:cNvPr id="35" name="Only if on the list"/>
          <p:cNvSpPr/>
          <p:nvPr/>
        </p:nvSpPr>
        <p:spPr>
          <a:xfrm>
            <a:off x="9397745" y="3715528"/>
            <a:ext cx="982383" cy="0"/>
          </a:xfrm>
          <a:prstGeom prst="line">
            <a:avLst/>
          </a:prstGeom>
          <a:noFill/>
          <a:ln w="19050">
            <a:solidFill>
              <a:srgbClr val="E31B23"/>
            </a:solidFill>
            <a:prstDash val="solid"/>
            <a:tailEnd type="triangle"/>
          </a:ln>
        </p:spPr>
      </p:sp>
      <p:sp>
        <p:nvSpPr>
          <p:cNvPr id="36" name="Only if on the list label"/>
          <p:cNvSpPr txBox="1"/>
          <p:nvPr/>
        </p:nvSpPr>
        <p:spPr>
          <a:xfrm>
            <a:off x="9363157" y="3605800"/>
            <a:ext cx="10515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on the list</a:t>
            </a:r>
            <a:endParaRPr lang="en-US" sz="1000" dirty="0"/>
          </a:p>
        </p:txBody>
      </p:sp>
      <p:sp>
        <p:nvSpPr>
          <p:cNvPr id="37" name="Exception Line - seg 1"/>
          <p:cNvSpPr/>
          <p:nvPr/>
        </p:nvSpPr>
        <p:spPr>
          <a:xfrm>
            <a:off x="5118013" y="2396588"/>
            <a:ext cx="0" cy="1318940"/>
          </a:xfrm>
          <a:prstGeom prst="line">
            <a:avLst/>
          </a:prstGeom>
          <a:noFill/>
          <a:ln w="19050">
            <a:solidFill>
              <a:srgbClr val="F28C00"/>
            </a:solidFill>
            <a:prstDash val="dash"/>
          </a:ln>
        </p:spPr>
      </p:sp>
      <p:sp>
        <p:nvSpPr>
          <p:cNvPr id="38" name="Exception Line - seg 2"/>
          <p:cNvSpPr/>
          <p:nvPr/>
        </p:nvSpPr>
        <p:spPr>
          <a:xfrm>
            <a:off x="5118013" y="3715528"/>
            <a:ext cx="2851639" cy="0"/>
          </a:xfrm>
          <a:prstGeom prst="line">
            <a:avLst/>
          </a:prstGeom>
          <a:noFill/>
          <a:ln w="19050">
            <a:solidFill>
              <a:srgbClr val="F28C00"/>
            </a:solidFill>
            <a:prstDash val="dash"/>
            <a:tailEnd type="triangle"/>
          </a:ln>
        </p:spPr>
      </p:sp>
      <p:sp>
        <p:nvSpPr>
          <p:cNvPr id="39" name="Exception Line label"/>
          <p:cNvSpPr txBox="1"/>
          <p:nvPr/>
        </p:nvSpPr>
        <p:spPr>
          <a:xfrm>
            <a:off x="5215678" y="3605800"/>
            <a:ext cx="26517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Line: passes through UNOPENED</a:t>
            </a:r>
            <a:endParaRPr lang="en-US" sz="1000" dirty="0"/>
          </a:p>
        </p:txBody>
      </p:sp>
      <p:sp>
        <p:nvSpPr>
          <p:cNvPr id="40" name="FortiGate opens + inspects - seg 1"/>
          <p:cNvSpPr/>
          <p:nvPr/>
        </p:nvSpPr>
        <p:spPr>
          <a:xfrm>
            <a:off x="8415363" y="4202172"/>
            <a:ext cx="0" cy="432067"/>
          </a:xfrm>
          <a:prstGeom prst="line">
            <a:avLst/>
          </a:prstGeom>
          <a:noFill/>
          <a:ln w="19050">
            <a:solidFill>
              <a:srgbClr val="F28C00"/>
            </a:solidFill>
            <a:prstDash val="dash"/>
          </a:ln>
        </p:spPr>
      </p:sp>
      <p:sp>
        <p:nvSpPr>
          <p:cNvPr id="41" name="FortiGate opens + inspects - seg 2"/>
          <p:cNvSpPr/>
          <p:nvPr/>
        </p:nvSpPr>
        <p:spPr>
          <a:xfrm flipH="1">
            <a:off x="6900856" y="4634238"/>
            <a:ext cx="1514507" cy="0"/>
          </a:xfrm>
          <a:prstGeom prst="line">
            <a:avLst/>
          </a:prstGeom>
          <a:noFill/>
          <a:ln w="19050">
            <a:solidFill>
              <a:srgbClr val="F28C00"/>
            </a:solidFill>
            <a:prstDash val="dash"/>
          </a:ln>
        </p:spPr>
      </p:sp>
      <p:sp>
        <p:nvSpPr>
          <p:cNvPr id="42" name="FortiGate opens + inspects - seg 3"/>
          <p:cNvSpPr/>
          <p:nvPr/>
        </p:nvSpPr>
        <p:spPr>
          <a:xfrm>
            <a:off x="6900856" y="4634238"/>
            <a:ext cx="0" cy="864133"/>
          </a:xfrm>
          <a:prstGeom prst="line">
            <a:avLst/>
          </a:prstGeom>
          <a:noFill/>
          <a:ln w="19050">
            <a:solidFill>
              <a:srgbClr val="F28C00"/>
            </a:solidFill>
            <a:prstDash val="dash"/>
          </a:ln>
        </p:spPr>
      </p:sp>
      <p:sp>
        <p:nvSpPr>
          <p:cNvPr id="43" name="FortiGate opens + inspects - seg 4"/>
          <p:cNvSpPr/>
          <p:nvPr/>
        </p:nvSpPr>
        <p:spPr>
          <a:xfrm flipH="1">
            <a:off x="5213522" y="5498371"/>
            <a:ext cx="1687333" cy="0"/>
          </a:xfrm>
          <a:prstGeom prst="line">
            <a:avLst/>
          </a:prstGeom>
          <a:noFill/>
          <a:ln w="19050">
            <a:solidFill>
              <a:srgbClr val="F28C00"/>
            </a:solidFill>
            <a:prstDash val="dash"/>
            <a:tailEnd type="triangle"/>
          </a:ln>
        </p:spPr>
      </p:sp>
      <p:sp>
        <p:nvSpPr>
          <p:cNvPr id="44" name="FortiGate opens + inspects label"/>
          <p:cNvSpPr txBox="1"/>
          <p:nvPr/>
        </p:nvSpPr>
        <p:spPr>
          <a:xfrm>
            <a:off x="5803576" y="4942932"/>
            <a:ext cx="21945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 opens + inspects instead</a:t>
            </a:r>
            <a:endParaRPr lang="en-US" sz="1000" dirty="0"/>
          </a:p>
        </p:txBody>
      </p:sp>
      <p:sp>
        <p:nvSpPr>
          <p:cNvPr id="45" name="Route control"/>
          <p:cNvSpPr/>
          <p:nvPr/>
        </p:nvSpPr>
        <p:spPr>
          <a:xfrm>
            <a:off x="8851977" y="4202172"/>
            <a:ext cx="0" cy="841393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46" name="Route control label"/>
          <p:cNvSpPr txBox="1"/>
          <p:nvPr/>
        </p:nvSpPr>
        <p:spPr>
          <a:xfrm>
            <a:off x="8394777" y="4510866"/>
            <a:ext cx="9144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control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7204" y="540977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IoT_A VRF: Access Model</a:t>
            </a:r>
            <a:endParaRPr lang="en-US" sz="2000" dirty="0"/>
          </a:p>
        </p:txBody>
      </p:sp>
      <p:sp>
        <p:nvSpPr>
          <p:cNvPr id="3" name="IoT_A VRF - container"/>
          <p:cNvSpPr/>
          <p:nvPr/>
        </p:nvSpPr>
        <p:spPr>
          <a:xfrm>
            <a:off x="556300" y="1018524"/>
            <a:ext cx="8109206" cy="4752732"/>
          </a:xfrm>
          <a:prstGeom prst="roundRect">
            <a:avLst>
              <a:gd name="adj" fmla="val 1539"/>
            </a:avLst>
          </a:prstGeom>
          <a:solidFill>
            <a:srgbClr val="EEF4FF"/>
          </a:solidFill>
          <a:ln w="15875">
            <a:solidFill>
              <a:srgbClr val="1A73E8"/>
            </a:solidFill>
            <a:prstDash val="solid"/>
          </a:ln>
        </p:spPr>
      </p:sp>
      <p:pic>
        <p:nvPicPr>
          <p:cNvPr id="4" name="IoT_A VRF -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60" y="1128252"/>
            <a:ext cx="237744" cy="237744"/>
          </a:xfrm>
          <a:prstGeom prst="rect">
            <a:avLst/>
          </a:prstGeom>
        </p:spPr>
      </p:pic>
      <p:sp>
        <p:nvSpPr>
          <p:cNvPr id="5" name="IoT_A VRF - label"/>
          <p:cNvSpPr txBox="1"/>
          <p:nvPr/>
        </p:nvSpPr>
        <p:spPr>
          <a:xfrm>
            <a:off x="1004356" y="109167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IoT_A VRF</a:t>
            </a:r>
            <a:endParaRPr lang="en-US" sz="1400" dirty="0"/>
          </a:p>
        </p:txBody>
      </p:sp>
      <p:sp>
        <p:nvSpPr>
          <p:cNvPr id="6" name="Security Admin - box"/>
          <p:cNvSpPr/>
          <p:nvPr/>
        </p:nvSpPr>
        <p:spPr>
          <a:xfrm>
            <a:off x="1002011" y="1814436"/>
            <a:ext cx="1919285" cy="841393"/>
          </a:xfrm>
          <a:prstGeom prst="roundRect">
            <a:avLst>
              <a:gd name="adj" fmla="val 10868"/>
            </a:avLst>
          </a:prstGeom>
          <a:solidFill>
            <a:srgbClr val="DCEBFF"/>
          </a:solidFill>
          <a:ln w="15875">
            <a:solidFill>
              <a:srgbClr val="1A73E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ecurity Admin -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611" y="2079684"/>
            <a:ext cx="310896" cy="310896"/>
          </a:xfrm>
          <a:prstGeom prst="rect">
            <a:avLst/>
          </a:prstGeom>
        </p:spPr>
      </p:pic>
      <p:sp>
        <p:nvSpPr>
          <p:cNvPr id="8" name="Security Admin - text"/>
          <p:cNvSpPr txBox="1"/>
          <p:nvPr/>
        </p:nvSpPr>
        <p:spPr>
          <a:xfrm>
            <a:off x="1632947" y="1814436"/>
            <a:ext cx="1196909" cy="841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Admin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IoT_A jump box</a:t>
            </a:r>
            <a:endParaRPr lang="en-US" sz="1400" dirty="0"/>
          </a:p>
        </p:txBody>
      </p:sp>
      <p:sp>
        <p:nvSpPr>
          <p:cNvPr id="9" name="CCURE Server - box"/>
          <p:cNvSpPr/>
          <p:nvPr/>
        </p:nvSpPr>
        <p:spPr>
          <a:xfrm>
            <a:off x="5399993" y="1814436"/>
            <a:ext cx="1923833" cy="841393"/>
          </a:xfrm>
          <a:prstGeom prst="roundRect">
            <a:avLst>
              <a:gd name="adj" fmla="val 10868"/>
            </a:avLst>
          </a:prstGeom>
          <a:solidFill>
            <a:srgbClr val="DCEBFF"/>
          </a:solidFill>
          <a:ln w="15875">
            <a:solidFill>
              <a:srgbClr val="1A73E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CCURE Server -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593" y="2079684"/>
            <a:ext cx="310896" cy="310896"/>
          </a:xfrm>
          <a:prstGeom prst="rect">
            <a:avLst/>
          </a:prstGeom>
        </p:spPr>
      </p:pic>
      <p:sp>
        <p:nvSpPr>
          <p:cNvPr id="11" name="CCURE Server - text"/>
          <p:cNvSpPr txBox="1"/>
          <p:nvPr/>
        </p:nvSpPr>
        <p:spPr>
          <a:xfrm>
            <a:off x="6030929" y="1814436"/>
            <a:ext cx="1201457" cy="841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CCURE Server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IoT_A</a:t>
            </a:r>
            <a:endParaRPr lang="en-US" sz="1400" dirty="0"/>
          </a:p>
        </p:txBody>
      </p:sp>
      <p:sp>
        <p:nvSpPr>
          <p:cNvPr id="12" name="Corp VRF - box"/>
          <p:cNvSpPr/>
          <p:nvPr/>
        </p:nvSpPr>
        <p:spPr>
          <a:xfrm>
            <a:off x="9802523" y="1814436"/>
            <a:ext cx="1923833" cy="841393"/>
          </a:xfrm>
          <a:prstGeom prst="roundRect">
            <a:avLst>
              <a:gd name="adj" fmla="val 10868"/>
            </a:avLst>
          </a:prstGeom>
          <a:solidFill>
            <a:srgbClr val="F2F2F2"/>
          </a:solidFill>
          <a:ln w="15875">
            <a:solidFill>
              <a:srgbClr val="7A7A7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Corp VRF -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1123" y="2079684"/>
            <a:ext cx="310896" cy="310896"/>
          </a:xfrm>
          <a:prstGeom prst="rect">
            <a:avLst/>
          </a:prstGeom>
        </p:spPr>
      </p:pic>
      <p:sp>
        <p:nvSpPr>
          <p:cNvPr id="14" name="Corp VRF - text"/>
          <p:cNvSpPr txBox="1"/>
          <p:nvPr/>
        </p:nvSpPr>
        <p:spPr>
          <a:xfrm>
            <a:off x="10433459" y="1814436"/>
            <a:ext cx="1201457" cy="841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 VRF</a:t>
            </a:r>
            <a:endParaRPr lang="en-US" sz="1400" dirty="0"/>
          </a:p>
        </p:txBody>
      </p:sp>
      <p:sp>
        <p:nvSpPr>
          <p:cNvPr id="15" name="Rapid 7 Engine - box"/>
          <p:cNvSpPr/>
          <p:nvPr/>
        </p:nvSpPr>
        <p:spPr>
          <a:xfrm>
            <a:off x="1002011" y="4293133"/>
            <a:ext cx="1919285" cy="841393"/>
          </a:xfrm>
          <a:prstGeom prst="roundRect">
            <a:avLst>
              <a:gd name="adj" fmla="val 10868"/>
            </a:avLst>
          </a:prstGeom>
          <a:solidFill>
            <a:srgbClr val="DCEBFF"/>
          </a:solidFill>
          <a:ln w="15875">
            <a:solidFill>
              <a:srgbClr val="1A73E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Rapid 7 Engine -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611" y="4558381"/>
            <a:ext cx="310896" cy="310896"/>
          </a:xfrm>
          <a:prstGeom prst="rect">
            <a:avLst/>
          </a:prstGeom>
        </p:spPr>
      </p:pic>
      <p:sp>
        <p:nvSpPr>
          <p:cNvPr id="17" name="Rapid 7 Engine - text"/>
          <p:cNvSpPr txBox="1"/>
          <p:nvPr/>
        </p:nvSpPr>
        <p:spPr>
          <a:xfrm>
            <a:off x="1632947" y="4293133"/>
            <a:ext cx="1196909" cy="841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7 Engine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IoT_A</a:t>
            </a:r>
            <a:endParaRPr lang="en-US" sz="1400" dirty="0"/>
          </a:p>
        </p:txBody>
      </p:sp>
      <p:sp>
        <p:nvSpPr>
          <p:cNvPr id="18" name="Door Panel - box"/>
          <p:cNvSpPr/>
          <p:nvPr/>
        </p:nvSpPr>
        <p:spPr>
          <a:xfrm>
            <a:off x="5399993" y="4293133"/>
            <a:ext cx="1923833" cy="841393"/>
          </a:xfrm>
          <a:prstGeom prst="roundRect">
            <a:avLst>
              <a:gd name="adj" fmla="val 10868"/>
            </a:avLst>
          </a:prstGeom>
          <a:solidFill>
            <a:srgbClr val="DCEBFF"/>
          </a:solidFill>
          <a:ln w="15875">
            <a:solidFill>
              <a:srgbClr val="1A73E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Door Panel -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8593" y="4558381"/>
            <a:ext cx="310896" cy="310896"/>
          </a:xfrm>
          <a:prstGeom prst="rect">
            <a:avLst/>
          </a:prstGeom>
        </p:spPr>
      </p:pic>
      <p:sp>
        <p:nvSpPr>
          <p:cNvPr id="20" name="Door Panel - text"/>
          <p:cNvSpPr txBox="1"/>
          <p:nvPr/>
        </p:nvSpPr>
        <p:spPr>
          <a:xfrm>
            <a:off x="6030929" y="4293133"/>
            <a:ext cx="1201457" cy="841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Panel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IoT_A, branch</a:t>
            </a:r>
            <a:endParaRPr lang="en-US" sz="1400" dirty="0"/>
          </a:p>
        </p:txBody>
      </p:sp>
      <p:sp>
        <p:nvSpPr>
          <p:cNvPr id="21" name="Transition only - box"/>
          <p:cNvSpPr/>
          <p:nvPr/>
        </p:nvSpPr>
        <p:spPr>
          <a:xfrm>
            <a:off x="6186809" y="2815011"/>
            <a:ext cx="2274034" cy="1341680"/>
          </a:xfrm>
          <a:prstGeom prst="roundRect">
            <a:avLst>
              <a:gd name="adj" fmla="val 6815"/>
            </a:avLst>
          </a:prstGeom>
          <a:solidFill>
            <a:srgbClr val="FFF4CC"/>
          </a:solidFill>
          <a:ln w="15875">
            <a:solidFill>
              <a:srgbClr val="C9A227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Transition only -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409" y="3330403"/>
            <a:ext cx="310896" cy="310896"/>
          </a:xfrm>
          <a:prstGeom prst="rect">
            <a:avLst/>
          </a:prstGeom>
        </p:spPr>
      </p:pic>
      <p:sp>
        <p:nvSpPr>
          <p:cNvPr id="23" name="Transition only - text"/>
          <p:cNvSpPr txBox="1"/>
          <p:nvPr/>
        </p:nvSpPr>
        <p:spPr>
          <a:xfrm>
            <a:off x="6817745" y="2815011"/>
            <a:ext cx="1551658" cy="134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only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CCURE also manages legacy corporate-VLAN panels under time-bound exception</a:t>
            </a:r>
            <a:endParaRPr lang="en-US" sz="1300" dirty="0"/>
          </a:p>
        </p:txBody>
      </p:sp>
      <p:sp>
        <p:nvSpPr>
          <p:cNvPr id="24" name="Manage cardholders"/>
          <p:cNvSpPr/>
          <p:nvPr/>
        </p:nvSpPr>
        <p:spPr>
          <a:xfrm>
            <a:off x="2921296" y="2232858"/>
            <a:ext cx="2478697" cy="0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  <a:tailEnd type="triangle"/>
          </a:ln>
        </p:spPr>
      </p:sp>
      <p:sp>
        <p:nvSpPr>
          <p:cNvPr id="25" name="Manage cardholders label"/>
          <p:cNvSpPr txBox="1"/>
          <p:nvPr/>
        </p:nvSpPr>
        <p:spPr>
          <a:xfrm>
            <a:off x="3134219" y="2113986"/>
            <a:ext cx="2057400" cy="237744"/>
          </a:xfrm>
          <a:prstGeom prst="rect">
            <a:avLst/>
          </a:prstGeom>
          <a:solidFill>
            <a:srgbClr val="EEF4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cardholders / schedules</a:t>
            </a:r>
            <a:endParaRPr lang="en-US" sz="1100" dirty="0"/>
          </a:p>
        </p:txBody>
      </p:sp>
      <p:sp>
        <p:nvSpPr>
          <p:cNvPr id="26" name="One-way vuln scan"/>
          <p:cNvSpPr/>
          <p:nvPr/>
        </p:nvSpPr>
        <p:spPr>
          <a:xfrm>
            <a:off x="2921296" y="4711555"/>
            <a:ext cx="2478697" cy="0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  <a:tailEnd type="triangle"/>
          </a:ln>
        </p:spPr>
      </p:sp>
      <p:sp>
        <p:nvSpPr>
          <p:cNvPr id="27" name="One-way vuln scan label"/>
          <p:cNvSpPr txBox="1"/>
          <p:nvPr/>
        </p:nvSpPr>
        <p:spPr>
          <a:xfrm>
            <a:off x="3477119" y="4592683"/>
            <a:ext cx="1371600" cy="237744"/>
          </a:xfrm>
          <a:prstGeom prst="rect">
            <a:avLst/>
          </a:prstGeom>
          <a:solidFill>
            <a:srgbClr val="EEF4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vuln scan</a:t>
            </a:r>
            <a:endParaRPr lang="en-US" sz="1100" dirty="0"/>
          </a:p>
        </p:txBody>
      </p:sp>
      <p:sp>
        <p:nvSpPr>
          <p:cNvPr id="28" name="Config + schedule push"/>
          <p:cNvSpPr/>
          <p:nvPr/>
        </p:nvSpPr>
        <p:spPr>
          <a:xfrm>
            <a:off x="5800223" y="2655828"/>
            <a:ext cx="0" cy="1637305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  <a:headEnd type="triangle"/>
            <a:tailEnd type="triangle"/>
          </a:ln>
        </p:spPr>
      </p:sp>
      <p:sp>
        <p:nvSpPr>
          <p:cNvPr id="29" name="Config + schedule push label"/>
          <p:cNvSpPr txBox="1"/>
          <p:nvPr/>
        </p:nvSpPr>
        <p:spPr>
          <a:xfrm>
            <a:off x="3792851" y="3341964"/>
            <a:ext cx="2377440" cy="237744"/>
          </a:xfrm>
          <a:prstGeom prst="rect">
            <a:avLst/>
          </a:prstGeom>
          <a:solidFill>
            <a:srgbClr val="EEF4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+ schedule push (port TBC) /</a:t>
            </a:r>
            <a:endParaRPr lang="en-US" sz="1100" dirty="0"/>
          </a:p>
        </p:txBody>
      </p:sp>
      <p:sp>
        <p:nvSpPr>
          <p:cNvPr id="30" name="Denied both ways"/>
          <p:cNvSpPr/>
          <p:nvPr/>
        </p:nvSpPr>
        <p:spPr>
          <a:xfrm>
            <a:off x="7323826" y="2232858"/>
            <a:ext cx="2478697" cy="0"/>
          </a:xfrm>
          <a:prstGeom prst="line">
            <a:avLst/>
          </a:prstGeom>
          <a:noFill/>
          <a:ln w="19050">
            <a:solidFill>
              <a:srgbClr val="E31B23"/>
            </a:solidFill>
            <a:prstDash val="solid"/>
            <a:tailEnd type="none"/>
          </a:ln>
        </p:spPr>
      </p:sp>
      <p:sp>
        <p:nvSpPr>
          <p:cNvPr id="31" name="Denied both ways - end bar"/>
          <p:cNvSpPr/>
          <p:nvPr/>
        </p:nvSpPr>
        <p:spPr>
          <a:xfrm>
            <a:off x="9802523" y="2150562"/>
            <a:ext cx="0" cy="164592"/>
          </a:xfrm>
          <a:prstGeom prst="line">
            <a:avLst/>
          </a:prstGeom>
          <a:noFill/>
          <a:ln w="19050">
            <a:solidFill>
              <a:srgbClr val="E31B23"/>
            </a:solidFill>
            <a:prstDash val="solid"/>
          </a:ln>
        </p:spPr>
      </p:sp>
      <p:sp>
        <p:nvSpPr>
          <p:cNvPr id="32" name="Denied both ways - start bar"/>
          <p:cNvSpPr/>
          <p:nvPr/>
        </p:nvSpPr>
        <p:spPr>
          <a:xfrm>
            <a:off x="7323826" y="2150562"/>
            <a:ext cx="0" cy="164592"/>
          </a:xfrm>
          <a:prstGeom prst="line">
            <a:avLst/>
          </a:prstGeom>
          <a:noFill/>
          <a:ln w="19050">
            <a:solidFill>
              <a:srgbClr val="E31B23"/>
            </a:solidFill>
            <a:prstDash val="solid"/>
          </a:ln>
        </p:spPr>
      </p:sp>
      <p:sp>
        <p:nvSpPr>
          <p:cNvPr id="33" name="Denied both ways label"/>
          <p:cNvSpPr txBox="1"/>
          <p:nvPr/>
        </p:nvSpPr>
        <p:spPr>
          <a:xfrm>
            <a:off x="7829381" y="1954851"/>
            <a:ext cx="146304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Denied both ways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579218" y="2667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 VRF / IoT_A VRF Segmentation</a:t>
            </a:r>
            <a:endParaRPr lang="en-US" sz="2000" dirty="0"/>
          </a:p>
        </p:txBody>
      </p:sp>
      <p:sp>
        <p:nvSpPr>
          <p:cNvPr id="3" name="Corp VRF - container"/>
          <p:cNvSpPr/>
          <p:nvPr/>
        </p:nvSpPr>
        <p:spPr>
          <a:xfrm>
            <a:off x="2579218" y="759968"/>
            <a:ext cx="2037842" cy="1334516"/>
          </a:xfrm>
          <a:prstGeom prst="roundRect">
            <a:avLst>
              <a:gd name="adj" fmla="val 5482"/>
            </a:avLst>
          </a:prstGeom>
          <a:solidFill>
            <a:srgbClr val="E8F0FE"/>
          </a:solidFill>
          <a:ln w="15875">
            <a:solidFill>
              <a:srgbClr val="1A73E8"/>
            </a:solidFill>
            <a:prstDash val="solid"/>
          </a:ln>
        </p:spPr>
      </p:sp>
      <p:pic>
        <p:nvPicPr>
          <p:cNvPr id="4" name="Corp VRF -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6378" y="869696"/>
            <a:ext cx="182880" cy="182880"/>
          </a:xfrm>
          <a:prstGeom prst="rect">
            <a:avLst/>
          </a:prstGeom>
        </p:spPr>
      </p:pic>
      <p:sp>
        <p:nvSpPr>
          <p:cNvPr id="5" name="Corp VRF - label"/>
          <p:cNvSpPr txBox="1"/>
          <p:nvPr/>
        </p:nvSpPr>
        <p:spPr>
          <a:xfrm>
            <a:off x="2972410" y="833120"/>
            <a:ext cx="1763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 VRF</a:t>
            </a:r>
            <a:endParaRPr lang="en-US" sz="1200" dirty="0"/>
          </a:p>
        </p:txBody>
      </p:sp>
      <p:sp>
        <p:nvSpPr>
          <p:cNvPr id="6" name="Corporate Users - box"/>
          <p:cNvSpPr/>
          <p:nvPr/>
        </p:nvSpPr>
        <p:spPr>
          <a:xfrm>
            <a:off x="2813660" y="1236066"/>
            <a:ext cx="1568958" cy="623976"/>
          </a:xfrm>
          <a:prstGeom prst="roundRect">
            <a:avLst>
              <a:gd name="adj" fmla="val 17585"/>
            </a:avLst>
          </a:prstGeom>
          <a:solidFill>
            <a:srgbClr val="DCEBFF"/>
          </a:solidFill>
          <a:ln w="15875">
            <a:solidFill>
              <a:srgbClr val="1A73E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Corporate Users -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820" y="1429182"/>
            <a:ext cx="237744" cy="237744"/>
          </a:xfrm>
          <a:prstGeom prst="rect">
            <a:avLst/>
          </a:prstGeom>
        </p:spPr>
      </p:pic>
      <p:sp>
        <p:nvSpPr>
          <p:cNvPr id="8" name="Corporate Users - text"/>
          <p:cNvSpPr txBox="1"/>
          <p:nvPr/>
        </p:nvSpPr>
        <p:spPr>
          <a:xfrm>
            <a:off x="3280004" y="1236066"/>
            <a:ext cx="1011174" cy="62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Users / Servers / AD</a:t>
            </a:r>
            <a:endParaRPr lang="en-US" sz="1000" dirty="0"/>
          </a:p>
        </p:txBody>
      </p:sp>
      <p:sp>
        <p:nvSpPr>
          <p:cNvPr id="9" name="IoT_A VRF - container"/>
          <p:cNvSpPr/>
          <p:nvPr/>
        </p:nvSpPr>
        <p:spPr>
          <a:xfrm>
            <a:off x="2579218" y="2635504"/>
            <a:ext cx="7087362" cy="3841242"/>
          </a:xfrm>
          <a:prstGeom prst="roundRect">
            <a:avLst>
              <a:gd name="adj" fmla="val 1904"/>
            </a:avLst>
          </a:prstGeom>
          <a:solidFill>
            <a:srgbClr val="EAF6EC"/>
          </a:solidFill>
          <a:ln w="15875">
            <a:solidFill>
              <a:srgbClr val="2E7D32"/>
            </a:solidFill>
            <a:prstDash val="solid"/>
          </a:ln>
        </p:spPr>
      </p:sp>
      <p:pic>
        <p:nvPicPr>
          <p:cNvPr id="10" name="IoT_A VRF -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378" y="2745232"/>
            <a:ext cx="182880" cy="182880"/>
          </a:xfrm>
          <a:prstGeom prst="rect">
            <a:avLst/>
          </a:prstGeom>
        </p:spPr>
      </p:pic>
      <p:sp>
        <p:nvSpPr>
          <p:cNvPr id="11" name="IoT_A VRF - label"/>
          <p:cNvSpPr txBox="1"/>
          <p:nvPr/>
        </p:nvSpPr>
        <p:spPr>
          <a:xfrm>
            <a:off x="2972410" y="27086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IoT_A VRF (no corporate connectivity)</a:t>
            </a:r>
            <a:endParaRPr lang="en-US" sz="1200" dirty="0"/>
          </a:p>
        </p:txBody>
      </p:sp>
      <p:sp>
        <p:nvSpPr>
          <p:cNvPr id="12" name="Branch Sites - container"/>
          <p:cNvSpPr/>
          <p:nvPr/>
        </p:nvSpPr>
        <p:spPr>
          <a:xfrm>
            <a:off x="2813660" y="3104388"/>
            <a:ext cx="2661818" cy="3137916"/>
          </a:xfrm>
          <a:prstGeom prst="roundRect">
            <a:avLst>
              <a:gd name="adj" fmla="val 2748"/>
            </a:avLst>
          </a:prstGeom>
          <a:solidFill>
            <a:srgbClr val="DDF0E0"/>
          </a:solidFill>
          <a:ln w="15875">
            <a:solidFill>
              <a:srgbClr val="2E7D32"/>
            </a:solidFill>
            <a:prstDash val="solid"/>
          </a:ln>
        </p:spPr>
      </p:sp>
      <p:pic>
        <p:nvPicPr>
          <p:cNvPr id="13" name="Branch Sites -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0820" y="3214116"/>
            <a:ext cx="182880" cy="182880"/>
          </a:xfrm>
          <a:prstGeom prst="rect">
            <a:avLst/>
          </a:prstGeom>
        </p:spPr>
      </p:pic>
      <p:sp>
        <p:nvSpPr>
          <p:cNvPr id="14" name="Branch Sites - label"/>
          <p:cNvSpPr txBox="1"/>
          <p:nvPr/>
        </p:nvSpPr>
        <p:spPr>
          <a:xfrm>
            <a:off x="3206852" y="3177540"/>
            <a:ext cx="2387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Sites — IoT_A interfaces (blan1)</a:t>
            </a:r>
            <a:endParaRPr lang="en-US" sz="1000" dirty="0"/>
          </a:p>
        </p:txBody>
      </p:sp>
      <p:sp>
        <p:nvSpPr>
          <p:cNvPr id="15" name="DC IoT_A segment - container"/>
          <p:cNvSpPr/>
          <p:nvPr/>
        </p:nvSpPr>
        <p:spPr>
          <a:xfrm>
            <a:off x="7231990" y="3104388"/>
            <a:ext cx="2272284" cy="3137916"/>
          </a:xfrm>
          <a:prstGeom prst="roundRect">
            <a:avLst>
              <a:gd name="adj" fmla="val 3219"/>
            </a:avLst>
          </a:prstGeom>
          <a:solidFill>
            <a:srgbClr val="DDF0E0"/>
          </a:solidFill>
          <a:ln w="15875">
            <a:solidFill>
              <a:srgbClr val="2E7D32"/>
            </a:solidFill>
            <a:prstDash val="solid"/>
          </a:ln>
        </p:spPr>
      </p:sp>
      <p:pic>
        <p:nvPicPr>
          <p:cNvPr id="16" name="DC IoT_A segment -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150" y="3214116"/>
            <a:ext cx="182880" cy="182880"/>
          </a:xfrm>
          <a:prstGeom prst="rect">
            <a:avLst/>
          </a:prstGeom>
        </p:spPr>
      </p:pic>
      <p:sp>
        <p:nvSpPr>
          <p:cNvPr id="17" name="DC IoT_A segment - label"/>
          <p:cNvSpPr txBox="1"/>
          <p:nvPr/>
        </p:nvSpPr>
        <p:spPr>
          <a:xfrm>
            <a:off x="7625182" y="3177540"/>
            <a:ext cx="1997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— IoT_A segment</a:t>
            </a:r>
            <a:endParaRPr lang="en-US" sz="1100" dirty="0"/>
          </a:p>
        </p:txBody>
      </p:sp>
      <p:sp>
        <p:nvSpPr>
          <p:cNvPr id="18" name="Door Panels Site A - box"/>
          <p:cNvSpPr/>
          <p:nvPr/>
        </p:nvSpPr>
        <p:spPr>
          <a:xfrm>
            <a:off x="3048102" y="3663442"/>
            <a:ext cx="2182114" cy="522986"/>
          </a:xfrm>
          <a:prstGeom prst="roundRect">
            <a:avLst>
              <a:gd name="adj" fmla="val 13987"/>
            </a:avLst>
          </a:prstGeom>
          <a:solidFill>
            <a:srgbClr val="FFFFFF"/>
          </a:solidFill>
          <a:ln w="15875">
            <a:solidFill>
              <a:srgbClr val="9A9A9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Door Panels Site A -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5262" y="3815207"/>
            <a:ext cx="219456" cy="219456"/>
          </a:xfrm>
          <a:prstGeom prst="rect">
            <a:avLst/>
          </a:prstGeom>
        </p:spPr>
      </p:pic>
      <p:sp>
        <p:nvSpPr>
          <p:cNvPr id="20" name="Door Panels Site A - text"/>
          <p:cNvSpPr txBox="1"/>
          <p:nvPr/>
        </p:nvSpPr>
        <p:spPr>
          <a:xfrm>
            <a:off x="3496158" y="3663442"/>
            <a:ext cx="1642618" cy="522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Panels — Site A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 MAC auth</a:t>
            </a:r>
            <a:endParaRPr lang="en-US" sz="1000" dirty="0"/>
          </a:p>
        </p:txBody>
      </p:sp>
      <p:sp>
        <p:nvSpPr>
          <p:cNvPr id="21" name="Door Panels Site B - box"/>
          <p:cNvSpPr/>
          <p:nvPr/>
        </p:nvSpPr>
        <p:spPr>
          <a:xfrm>
            <a:off x="3048102" y="4673346"/>
            <a:ext cx="2182114" cy="533806"/>
          </a:xfrm>
          <a:prstGeom prst="roundRect">
            <a:avLst>
              <a:gd name="adj" fmla="val 13704"/>
            </a:avLst>
          </a:prstGeom>
          <a:solidFill>
            <a:srgbClr val="FFFFFF"/>
          </a:solidFill>
          <a:ln w="15875">
            <a:solidFill>
              <a:srgbClr val="9A9A9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Door Panels Site B -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5262" y="4830521"/>
            <a:ext cx="219456" cy="219456"/>
          </a:xfrm>
          <a:prstGeom prst="rect">
            <a:avLst/>
          </a:prstGeom>
        </p:spPr>
      </p:pic>
      <p:sp>
        <p:nvSpPr>
          <p:cNvPr id="23" name="Door Panels Site B - text"/>
          <p:cNvSpPr txBox="1"/>
          <p:nvPr/>
        </p:nvSpPr>
        <p:spPr>
          <a:xfrm>
            <a:off x="3496158" y="4673346"/>
            <a:ext cx="1642618" cy="533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Panels — Site B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 MAC auth</a:t>
            </a:r>
            <a:endParaRPr lang="en-US" sz="1000" dirty="0"/>
          </a:p>
        </p:txBody>
      </p:sp>
      <p:sp>
        <p:nvSpPr>
          <p:cNvPr id="24" name="Management Jump Box - box"/>
          <p:cNvSpPr/>
          <p:nvPr/>
        </p:nvSpPr>
        <p:spPr>
          <a:xfrm>
            <a:off x="7394296" y="3493922"/>
            <a:ext cx="1947672" cy="483311"/>
          </a:xfrm>
          <a:prstGeom prst="roundRect">
            <a:avLst>
              <a:gd name="adj" fmla="val 15136"/>
            </a:avLst>
          </a:prstGeom>
          <a:solidFill>
            <a:srgbClr val="FFFFFF"/>
          </a:solidFill>
          <a:ln w="15875">
            <a:solidFill>
              <a:srgbClr val="9A9A9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Management Jump Box -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1456" y="3625850"/>
            <a:ext cx="219456" cy="219456"/>
          </a:xfrm>
          <a:prstGeom prst="rect">
            <a:avLst/>
          </a:prstGeom>
        </p:spPr>
      </p:pic>
      <p:sp>
        <p:nvSpPr>
          <p:cNvPr id="26" name="Management Jump Box - text"/>
          <p:cNvSpPr txBox="1"/>
          <p:nvPr/>
        </p:nvSpPr>
        <p:spPr>
          <a:xfrm>
            <a:off x="7842352" y="3493922"/>
            <a:ext cx="1408176" cy="483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Jump Box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(access method TBC)</a:t>
            </a:r>
            <a:endParaRPr lang="en-US" sz="1000" dirty="0"/>
          </a:p>
        </p:txBody>
      </p:sp>
      <p:sp>
        <p:nvSpPr>
          <p:cNvPr id="27" name="CCURE Server - box"/>
          <p:cNvSpPr/>
          <p:nvPr/>
        </p:nvSpPr>
        <p:spPr>
          <a:xfrm>
            <a:off x="7394296" y="4258564"/>
            <a:ext cx="1947672" cy="486918"/>
          </a:xfrm>
          <a:prstGeom prst="roundRect">
            <a:avLst>
              <a:gd name="adj" fmla="val 15023"/>
            </a:avLst>
          </a:prstGeom>
          <a:solidFill>
            <a:srgbClr val="FFFFFF"/>
          </a:solidFill>
          <a:ln w="15875">
            <a:solidFill>
              <a:srgbClr val="9A9A9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CCURE Server -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1456" y="4392295"/>
            <a:ext cx="219456" cy="219456"/>
          </a:xfrm>
          <a:prstGeom prst="rect">
            <a:avLst/>
          </a:prstGeom>
        </p:spPr>
      </p:pic>
      <p:sp>
        <p:nvSpPr>
          <p:cNvPr id="29" name="CCURE Server - text"/>
          <p:cNvSpPr txBox="1"/>
          <p:nvPr/>
        </p:nvSpPr>
        <p:spPr>
          <a:xfrm>
            <a:off x="7842352" y="4258564"/>
            <a:ext cx="1408176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CCURE Server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10.10.103.60</a:t>
            </a:r>
            <a:endParaRPr lang="en-US" sz="1000" dirty="0"/>
          </a:p>
        </p:txBody>
      </p:sp>
      <p:sp>
        <p:nvSpPr>
          <p:cNvPr id="30" name="Identity Store - box"/>
          <p:cNvSpPr/>
          <p:nvPr/>
        </p:nvSpPr>
        <p:spPr>
          <a:xfrm>
            <a:off x="7394296" y="5034026"/>
            <a:ext cx="1947672" cy="486918"/>
          </a:xfrm>
          <a:prstGeom prst="roundRect">
            <a:avLst>
              <a:gd name="adj" fmla="val 15023"/>
            </a:avLst>
          </a:prstGeom>
          <a:solidFill>
            <a:srgbClr val="FFFFFF"/>
          </a:solidFill>
          <a:ln w="15875">
            <a:solidFill>
              <a:srgbClr val="9A9A9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dentity Store -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1456" y="5167757"/>
            <a:ext cx="219456" cy="219456"/>
          </a:xfrm>
          <a:prstGeom prst="rect">
            <a:avLst/>
          </a:prstGeom>
        </p:spPr>
      </p:pic>
      <p:sp>
        <p:nvSpPr>
          <p:cNvPr id="32" name="Identity Store - text"/>
          <p:cNvSpPr txBox="1"/>
          <p:nvPr/>
        </p:nvSpPr>
        <p:spPr>
          <a:xfrm>
            <a:off x="7842352" y="5034026"/>
            <a:ext cx="1408176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Store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(IoT_A-local or exception — TBC)</a:t>
            </a:r>
            <a:endParaRPr lang="en-US" sz="1000" dirty="0"/>
          </a:p>
        </p:txBody>
      </p:sp>
      <p:sp>
        <p:nvSpPr>
          <p:cNvPr id="33" name="Rapid 7 Scan Engine - box"/>
          <p:cNvSpPr/>
          <p:nvPr/>
        </p:nvSpPr>
        <p:spPr>
          <a:xfrm>
            <a:off x="7394296" y="5665216"/>
            <a:ext cx="1947672" cy="486918"/>
          </a:xfrm>
          <a:prstGeom prst="roundRect">
            <a:avLst>
              <a:gd name="adj" fmla="val 15023"/>
            </a:avLst>
          </a:prstGeom>
          <a:solidFill>
            <a:srgbClr val="FFFFFF"/>
          </a:solidFill>
          <a:ln w="15875">
            <a:solidFill>
              <a:srgbClr val="9A9A9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34" name="Rapid 7 Scan Engine -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1456" y="5798947"/>
            <a:ext cx="219456" cy="219456"/>
          </a:xfrm>
          <a:prstGeom prst="rect">
            <a:avLst/>
          </a:prstGeom>
        </p:spPr>
      </p:pic>
      <p:sp>
        <p:nvSpPr>
          <p:cNvPr id="35" name="Rapid 7 Scan Engine - text"/>
          <p:cNvSpPr txBox="1"/>
          <p:nvPr/>
        </p:nvSpPr>
        <p:spPr>
          <a:xfrm>
            <a:off x="7842352" y="5665216"/>
            <a:ext cx="1408176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7 Scan Engine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(IoT_A)</a:t>
            </a:r>
            <a:endParaRPr lang="en-US" sz="1000" dirty="0"/>
          </a:p>
        </p:txBody>
      </p:sp>
      <p:sp>
        <p:nvSpPr>
          <p:cNvPr id="36" name="Vendor update servers - box"/>
          <p:cNvSpPr/>
          <p:nvPr/>
        </p:nvSpPr>
        <p:spPr>
          <a:xfrm>
            <a:off x="7574636" y="1149502"/>
            <a:ext cx="1893570" cy="656438"/>
          </a:xfrm>
          <a:prstGeom prst="roundRect">
            <a:avLst>
              <a:gd name="adj" fmla="val 11144"/>
            </a:avLst>
          </a:prstGeom>
          <a:solidFill>
            <a:srgbClr val="F2F2F2"/>
          </a:solidFill>
          <a:ln w="15875">
            <a:solidFill>
              <a:srgbClr val="7A7A7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37" name="Vendor update servers -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1796" y="1367993"/>
            <a:ext cx="219456" cy="219456"/>
          </a:xfrm>
          <a:prstGeom prst="rect">
            <a:avLst/>
          </a:prstGeom>
        </p:spPr>
      </p:pic>
      <p:sp>
        <p:nvSpPr>
          <p:cNvPr id="38" name="Vendor update servers - text"/>
          <p:cNvSpPr txBox="1"/>
          <p:nvPr/>
        </p:nvSpPr>
        <p:spPr>
          <a:xfrm>
            <a:off x="8022692" y="1149502"/>
            <a:ext cx="1354074" cy="65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update servers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(restricted egress TBC)</a:t>
            </a:r>
            <a:endParaRPr lang="en-US" sz="1000" dirty="0"/>
          </a:p>
        </p:txBody>
      </p:sp>
      <p:sp>
        <p:nvSpPr>
          <p:cNvPr id="39" name="IoT BIO overlay - hexagon"/>
          <p:cNvSpPr/>
          <p:nvPr/>
        </p:nvSpPr>
        <p:spPr>
          <a:xfrm>
            <a:off x="5753202" y="3970020"/>
            <a:ext cx="1244346" cy="955802"/>
          </a:xfrm>
          <a:prstGeom prst="hexagon">
            <a:avLst/>
          </a:prstGeom>
          <a:solidFill>
            <a:srgbClr val="C8E6CB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40" name="IoT BIO overlay - text"/>
          <p:cNvSpPr txBox="1"/>
          <p:nvPr/>
        </p:nvSpPr>
        <p:spPr>
          <a:xfrm>
            <a:off x="5843372" y="4006088"/>
            <a:ext cx="1064006" cy="88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BIO overlay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AES-GCM-256 tunnels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BMS_SECURITY zone</a:t>
            </a:r>
            <a:endParaRPr lang="en-US" sz="1000" dirty="0"/>
          </a:p>
        </p:txBody>
      </p:sp>
      <p:sp>
        <p:nvSpPr>
          <p:cNvPr id="41" name="Branch to overlay"/>
          <p:cNvSpPr/>
          <p:nvPr/>
        </p:nvSpPr>
        <p:spPr>
          <a:xfrm>
            <a:off x="5475478" y="4446118"/>
            <a:ext cx="277724" cy="0"/>
          </a:xfrm>
          <a:prstGeom prst="line">
            <a:avLst/>
          </a:prstGeom>
          <a:noFill/>
          <a:ln w="15875">
            <a:solidFill>
              <a:srgbClr val="1F1F1F"/>
            </a:solidFill>
            <a:prstDash val="solid"/>
          </a:ln>
        </p:spPr>
      </p:sp>
      <p:sp>
        <p:nvSpPr>
          <p:cNvPr id="42" name="Overlay to CCURE"/>
          <p:cNvSpPr/>
          <p:nvPr/>
        </p:nvSpPr>
        <p:spPr>
          <a:xfrm>
            <a:off x="6997548" y="4511040"/>
            <a:ext cx="396748" cy="0"/>
          </a:xfrm>
          <a:prstGeom prst="line">
            <a:avLst/>
          </a:prstGeom>
          <a:noFill/>
          <a:ln w="15875">
            <a:solidFill>
              <a:srgbClr val="1F1F1F"/>
            </a:solidFill>
            <a:prstDash val="solid"/>
            <a:headEnd type="triangle"/>
            <a:tailEnd type="triangle"/>
          </a:ln>
        </p:spPr>
      </p:sp>
      <p:sp>
        <p:nvSpPr>
          <p:cNvPr id="43" name="Jump box to CCURE"/>
          <p:cNvSpPr/>
          <p:nvPr/>
        </p:nvSpPr>
        <p:spPr>
          <a:xfrm>
            <a:off x="8368132" y="3977234"/>
            <a:ext cx="0" cy="281330"/>
          </a:xfrm>
          <a:prstGeom prst="line">
            <a:avLst/>
          </a:prstGeom>
          <a:noFill/>
          <a:ln w="15875">
            <a:solidFill>
              <a:srgbClr val="1F1F1F"/>
            </a:solidFill>
            <a:prstDash val="solid"/>
            <a:tailEnd type="triangle"/>
          </a:ln>
        </p:spPr>
      </p:sp>
      <p:sp>
        <p:nvSpPr>
          <p:cNvPr id="44" name="CCURE to Identity Store"/>
          <p:cNvSpPr/>
          <p:nvPr/>
        </p:nvSpPr>
        <p:spPr>
          <a:xfrm>
            <a:off x="8368132" y="4745482"/>
            <a:ext cx="0" cy="288544"/>
          </a:xfrm>
          <a:prstGeom prst="line">
            <a:avLst/>
          </a:prstGeom>
          <a:noFill/>
          <a:ln w="15875">
            <a:solidFill>
              <a:srgbClr val="1F1F1F"/>
            </a:solidFill>
            <a:prstDash val="solid"/>
            <a:headEnd type="triangle"/>
            <a:tailEnd type="triangle"/>
          </a:ln>
        </p:spPr>
      </p:sp>
      <p:sp>
        <p:nvSpPr>
          <p:cNvPr id="45" name="One-way scan - seg 1"/>
          <p:cNvSpPr/>
          <p:nvPr/>
        </p:nvSpPr>
        <p:spPr>
          <a:xfrm flipH="1">
            <a:off x="6377178" y="5899658"/>
            <a:ext cx="1017118" cy="0"/>
          </a:xfrm>
          <a:prstGeom prst="line">
            <a:avLst/>
          </a:prstGeom>
          <a:noFill/>
          <a:ln w="15875">
            <a:solidFill>
              <a:srgbClr val="1F1F1F"/>
            </a:solidFill>
            <a:prstDash val="dash"/>
          </a:ln>
        </p:spPr>
      </p:sp>
      <p:sp>
        <p:nvSpPr>
          <p:cNvPr id="46" name="One-way scan - seg 2"/>
          <p:cNvSpPr/>
          <p:nvPr/>
        </p:nvSpPr>
        <p:spPr>
          <a:xfrm flipV="1">
            <a:off x="6377178" y="4925822"/>
            <a:ext cx="0" cy="973836"/>
          </a:xfrm>
          <a:prstGeom prst="line">
            <a:avLst/>
          </a:prstGeom>
          <a:noFill/>
          <a:ln w="15875">
            <a:solidFill>
              <a:srgbClr val="1F1F1F"/>
            </a:solidFill>
            <a:prstDash val="dash"/>
            <a:tailEnd type="triangle"/>
          </a:ln>
        </p:spPr>
      </p:sp>
      <p:sp>
        <p:nvSpPr>
          <p:cNvPr id="47" name="One-way scan label"/>
          <p:cNvSpPr txBox="1"/>
          <p:nvPr/>
        </p:nvSpPr>
        <p:spPr>
          <a:xfrm>
            <a:off x="6447790" y="5799074"/>
            <a:ext cx="868680" cy="201168"/>
          </a:xfrm>
          <a:prstGeom prst="rect">
            <a:avLst/>
          </a:prstGeom>
          <a:solidFill>
            <a:srgbClr val="EAF6E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scan</a:t>
            </a:r>
            <a:endParaRPr lang="en-US" sz="800" dirty="0"/>
          </a:p>
        </p:txBody>
      </p:sp>
      <p:sp>
        <p:nvSpPr>
          <p:cNvPr id="48" name="Direct breakout"/>
          <p:cNvSpPr/>
          <p:nvPr/>
        </p:nvSpPr>
        <p:spPr>
          <a:xfrm flipV="1">
            <a:off x="8451088" y="1805940"/>
            <a:ext cx="0" cy="1298448"/>
          </a:xfrm>
          <a:prstGeom prst="line">
            <a:avLst/>
          </a:prstGeom>
          <a:noFill/>
          <a:ln w="15875">
            <a:solidFill>
              <a:srgbClr val="1F1F1F"/>
            </a:solidFill>
            <a:prstDash val="dash"/>
            <a:tailEnd type="triangle"/>
          </a:ln>
        </p:spPr>
      </p:sp>
      <p:sp>
        <p:nvSpPr>
          <p:cNvPr id="49" name="Direct breakout label"/>
          <p:cNvSpPr txBox="1"/>
          <p:nvPr/>
        </p:nvSpPr>
        <p:spPr>
          <a:xfrm>
            <a:off x="7582408" y="2336546"/>
            <a:ext cx="173736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breakout, not Netskope</a:t>
            </a:r>
            <a:endParaRPr lang="en-US" sz="800" dirty="0"/>
          </a:p>
        </p:txBody>
      </p:sp>
      <p:sp>
        <p:nvSpPr>
          <p:cNvPr id="50" name="Denied both directions - seg 1"/>
          <p:cNvSpPr/>
          <p:nvPr/>
        </p:nvSpPr>
        <p:spPr>
          <a:xfrm>
            <a:off x="3589122" y="2094484"/>
            <a:ext cx="0" cy="270510"/>
          </a:xfrm>
          <a:prstGeom prst="line">
            <a:avLst/>
          </a:prstGeom>
          <a:noFill/>
          <a:ln w="15875">
            <a:solidFill>
              <a:srgbClr val="E31B23"/>
            </a:solidFill>
            <a:prstDash val="dash"/>
          </a:ln>
        </p:spPr>
      </p:sp>
      <p:sp>
        <p:nvSpPr>
          <p:cNvPr id="51" name="Denied both directions - seg 2"/>
          <p:cNvSpPr/>
          <p:nvPr/>
        </p:nvSpPr>
        <p:spPr>
          <a:xfrm>
            <a:off x="3589122" y="2364994"/>
            <a:ext cx="2524760" cy="0"/>
          </a:xfrm>
          <a:prstGeom prst="line">
            <a:avLst/>
          </a:prstGeom>
          <a:noFill/>
          <a:ln w="15875">
            <a:solidFill>
              <a:srgbClr val="E31B23"/>
            </a:solidFill>
            <a:prstDash val="dash"/>
          </a:ln>
        </p:spPr>
      </p:sp>
      <p:sp>
        <p:nvSpPr>
          <p:cNvPr id="52" name="Denied both directions - seg 3"/>
          <p:cNvSpPr/>
          <p:nvPr/>
        </p:nvSpPr>
        <p:spPr>
          <a:xfrm>
            <a:off x="6113882" y="2364994"/>
            <a:ext cx="0" cy="270510"/>
          </a:xfrm>
          <a:prstGeom prst="line">
            <a:avLst/>
          </a:prstGeom>
          <a:noFill/>
          <a:ln w="15875">
            <a:solidFill>
              <a:srgbClr val="E31B23"/>
            </a:solidFill>
            <a:prstDash val="dash"/>
          </a:ln>
        </p:spPr>
      </p:sp>
      <p:sp>
        <p:nvSpPr>
          <p:cNvPr id="53" name="Denied both directions - top bar"/>
          <p:cNvSpPr/>
          <p:nvPr/>
        </p:nvSpPr>
        <p:spPr>
          <a:xfrm>
            <a:off x="3479394" y="2094484"/>
            <a:ext cx="219456" cy="0"/>
          </a:xfrm>
          <a:prstGeom prst="line">
            <a:avLst/>
          </a:prstGeom>
          <a:noFill/>
          <a:ln w="15875">
            <a:solidFill>
              <a:srgbClr val="E31B23"/>
            </a:solidFill>
            <a:prstDash val="solid"/>
          </a:ln>
        </p:spPr>
      </p:sp>
      <p:sp>
        <p:nvSpPr>
          <p:cNvPr id="54" name="Denied both directions - bottom bar"/>
          <p:cNvSpPr/>
          <p:nvPr/>
        </p:nvSpPr>
        <p:spPr>
          <a:xfrm>
            <a:off x="6004154" y="2635504"/>
            <a:ext cx="219456" cy="0"/>
          </a:xfrm>
          <a:prstGeom prst="line">
            <a:avLst/>
          </a:prstGeom>
          <a:noFill/>
          <a:ln w="15875">
            <a:solidFill>
              <a:srgbClr val="E31B23"/>
            </a:solidFill>
            <a:prstDash val="solid"/>
          </a:ln>
        </p:spPr>
      </p:sp>
      <p:sp>
        <p:nvSpPr>
          <p:cNvPr id="55" name="Denied both directions label"/>
          <p:cNvSpPr txBox="1"/>
          <p:nvPr/>
        </p:nvSpPr>
        <p:spPr>
          <a:xfrm>
            <a:off x="4069436" y="2264410"/>
            <a:ext cx="16002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Denied both directions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75130" y="7437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Flat Corporate VLAN</a:t>
            </a:r>
            <a:endParaRPr lang="en-US" sz="2000" dirty="0"/>
          </a:p>
        </p:txBody>
      </p:sp>
      <p:sp>
        <p:nvSpPr>
          <p:cNvPr id="3" name="Office Site - container"/>
          <p:cNvSpPr/>
          <p:nvPr/>
        </p:nvSpPr>
        <p:spPr>
          <a:xfrm>
            <a:off x="684016" y="540913"/>
            <a:ext cx="6900307" cy="4443211"/>
          </a:xfrm>
          <a:prstGeom prst="roundRect">
            <a:avLst>
              <a:gd name="adj" fmla="val 1646"/>
            </a:avLst>
          </a:prstGeom>
          <a:solidFill>
            <a:srgbClr val="EEF4FF"/>
          </a:solidFill>
          <a:ln w="15875">
            <a:solidFill>
              <a:srgbClr val="1A73E8"/>
            </a:solidFill>
            <a:prstDash val="solid"/>
          </a:ln>
        </p:spPr>
      </p:sp>
      <p:pic>
        <p:nvPicPr>
          <p:cNvPr id="4" name="Office Site -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76" y="650641"/>
            <a:ext cx="219456" cy="219456"/>
          </a:xfrm>
          <a:prstGeom prst="rect">
            <a:avLst/>
          </a:prstGeom>
        </p:spPr>
      </p:pic>
      <p:sp>
        <p:nvSpPr>
          <p:cNvPr id="5" name="Office Site - label"/>
          <p:cNvSpPr txBox="1"/>
          <p:nvPr/>
        </p:nvSpPr>
        <p:spPr>
          <a:xfrm>
            <a:off x="1113784" y="614065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Site (Ashurst-owned)</a:t>
            </a:r>
            <a:endParaRPr lang="en-US" sz="1300" dirty="0"/>
          </a:p>
        </p:txBody>
      </p:sp>
      <p:sp>
        <p:nvSpPr>
          <p:cNvPr id="6" name="Data Centre - container"/>
          <p:cNvSpPr/>
          <p:nvPr/>
        </p:nvSpPr>
        <p:spPr>
          <a:xfrm>
            <a:off x="8428534" y="540913"/>
            <a:ext cx="3168010" cy="4443211"/>
          </a:xfrm>
          <a:prstGeom prst="roundRect">
            <a:avLst>
              <a:gd name="adj" fmla="val 2309"/>
            </a:avLst>
          </a:prstGeom>
          <a:solidFill>
            <a:srgbClr val="EEF4FF"/>
          </a:solidFill>
          <a:ln w="15875">
            <a:solidFill>
              <a:srgbClr val="1A73E8"/>
            </a:solidFill>
            <a:prstDash val="solid"/>
          </a:ln>
        </p:spPr>
      </p:sp>
      <p:pic>
        <p:nvPicPr>
          <p:cNvPr id="7" name="Data Centre -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694" y="650641"/>
            <a:ext cx="219456" cy="219456"/>
          </a:xfrm>
          <a:prstGeom prst="rect">
            <a:avLst/>
          </a:prstGeom>
        </p:spPr>
      </p:pic>
      <p:sp>
        <p:nvSpPr>
          <p:cNvPr id="8" name="Data Centre - label"/>
          <p:cNvSpPr txBox="1"/>
          <p:nvPr/>
        </p:nvSpPr>
        <p:spPr>
          <a:xfrm>
            <a:off x="8858302" y="614065"/>
            <a:ext cx="28936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</a:t>
            </a:r>
            <a:endParaRPr lang="en-US" sz="1300" dirty="0"/>
          </a:p>
        </p:txBody>
      </p:sp>
      <p:sp>
        <p:nvSpPr>
          <p:cNvPr id="9" name="Card Readers / Locks - box"/>
          <p:cNvSpPr/>
          <p:nvPr/>
        </p:nvSpPr>
        <p:spPr>
          <a:xfrm>
            <a:off x="995041" y="1162962"/>
            <a:ext cx="1901694" cy="657595"/>
          </a:xfrm>
          <a:prstGeom prst="roundRect">
            <a:avLst>
              <a:gd name="adj" fmla="val 11124"/>
            </a:avLst>
          </a:prstGeom>
          <a:solidFill>
            <a:srgbClr val="FFFFFF"/>
          </a:solidFill>
          <a:ln w="15875">
            <a:solidFill>
              <a:srgbClr val="9A9A9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Card Readers / Locks -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633" y="1363744"/>
            <a:ext cx="256032" cy="256032"/>
          </a:xfrm>
          <a:prstGeom prst="rect">
            <a:avLst/>
          </a:prstGeom>
        </p:spPr>
      </p:pic>
      <p:sp>
        <p:nvSpPr>
          <p:cNvPr id="11" name="Card Readers / Locks - text"/>
          <p:cNvSpPr txBox="1"/>
          <p:nvPr/>
        </p:nvSpPr>
        <p:spPr>
          <a:xfrm>
            <a:off x="1507105" y="1162962"/>
            <a:ext cx="1298190" cy="65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Readers / Locks</a:t>
            </a:r>
            <a:endParaRPr lang="en-US" sz="1100" dirty="0"/>
          </a:p>
        </p:txBody>
      </p:sp>
      <p:sp>
        <p:nvSpPr>
          <p:cNvPr id="12" name="Door Panel 1 - box"/>
          <p:cNvSpPr/>
          <p:nvPr/>
        </p:nvSpPr>
        <p:spPr>
          <a:xfrm>
            <a:off x="995041" y="2327084"/>
            <a:ext cx="1377395" cy="657595"/>
          </a:xfrm>
          <a:prstGeom prst="roundRect">
            <a:avLst>
              <a:gd name="adj" fmla="val 11124"/>
            </a:avLst>
          </a:prstGeom>
          <a:solidFill>
            <a:srgbClr val="FFFFFF"/>
          </a:solidFill>
          <a:ln w="15875">
            <a:solidFill>
              <a:srgbClr val="9A9A9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Door Panel 1 -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633" y="2527865"/>
            <a:ext cx="256032" cy="256032"/>
          </a:xfrm>
          <a:prstGeom prst="rect">
            <a:avLst/>
          </a:prstGeom>
        </p:spPr>
      </p:pic>
      <p:sp>
        <p:nvSpPr>
          <p:cNvPr id="14" name="Door Panel 1 - text"/>
          <p:cNvSpPr txBox="1"/>
          <p:nvPr/>
        </p:nvSpPr>
        <p:spPr>
          <a:xfrm>
            <a:off x="1507105" y="2327084"/>
            <a:ext cx="773891" cy="65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Panel</a:t>
            </a:r>
            <a:endParaRPr lang="en-US" sz="1100" dirty="0"/>
          </a:p>
        </p:txBody>
      </p:sp>
      <p:sp>
        <p:nvSpPr>
          <p:cNvPr id="15" name="Door Panel 2 - box"/>
          <p:cNvSpPr/>
          <p:nvPr/>
        </p:nvSpPr>
        <p:spPr>
          <a:xfrm>
            <a:off x="2621256" y="2327084"/>
            <a:ext cx="1377395" cy="657595"/>
          </a:xfrm>
          <a:prstGeom prst="roundRect">
            <a:avLst>
              <a:gd name="adj" fmla="val 11124"/>
            </a:avLst>
          </a:prstGeom>
          <a:solidFill>
            <a:srgbClr val="FFFFFF"/>
          </a:solidFill>
          <a:ln w="15875">
            <a:solidFill>
              <a:srgbClr val="9A9A9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Door Panel 2 -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848" y="2527865"/>
            <a:ext cx="256032" cy="256032"/>
          </a:xfrm>
          <a:prstGeom prst="rect">
            <a:avLst/>
          </a:prstGeom>
        </p:spPr>
      </p:pic>
      <p:sp>
        <p:nvSpPr>
          <p:cNvPr id="17" name="Door Panel 2 - text"/>
          <p:cNvSpPr txBox="1"/>
          <p:nvPr/>
        </p:nvSpPr>
        <p:spPr>
          <a:xfrm>
            <a:off x="3133320" y="2327084"/>
            <a:ext cx="773891" cy="65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Panel</a:t>
            </a:r>
            <a:endParaRPr lang="en-US" sz="1100" dirty="0"/>
          </a:p>
        </p:txBody>
      </p:sp>
      <p:sp>
        <p:nvSpPr>
          <p:cNvPr id="18" name="CCTV Cameras / NVR - box"/>
          <p:cNvSpPr/>
          <p:nvPr/>
        </p:nvSpPr>
        <p:spPr>
          <a:xfrm>
            <a:off x="4198596" y="2327084"/>
            <a:ext cx="1541794" cy="657595"/>
          </a:xfrm>
          <a:prstGeom prst="roundRect">
            <a:avLst>
              <a:gd name="adj" fmla="val 11124"/>
            </a:avLst>
          </a:prstGeom>
          <a:solidFill>
            <a:srgbClr val="FFFFFF"/>
          </a:solidFill>
          <a:ln w="15875">
            <a:solidFill>
              <a:srgbClr val="9A9A9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CCTV Cameras / NVR -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3188" y="2527865"/>
            <a:ext cx="256032" cy="256032"/>
          </a:xfrm>
          <a:prstGeom prst="rect">
            <a:avLst/>
          </a:prstGeom>
        </p:spPr>
      </p:pic>
      <p:sp>
        <p:nvSpPr>
          <p:cNvPr id="20" name="CCTV Cameras / NVR - text"/>
          <p:cNvSpPr txBox="1"/>
          <p:nvPr/>
        </p:nvSpPr>
        <p:spPr>
          <a:xfrm>
            <a:off x="4710660" y="2327084"/>
            <a:ext cx="938290" cy="65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Cameras / NVR</a:t>
            </a:r>
            <a:endParaRPr lang="en-US" sz="1100" dirty="0"/>
          </a:p>
        </p:txBody>
      </p:sp>
      <p:sp>
        <p:nvSpPr>
          <p:cNvPr id="21" name="Corporate User PCs - box"/>
          <p:cNvSpPr/>
          <p:nvPr/>
        </p:nvSpPr>
        <p:spPr>
          <a:xfrm>
            <a:off x="5993654" y="2327084"/>
            <a:ext cx="1381839" cy="657595"/>
          </a:xfrm>
          <a:prstGeom prst="roundRect">
            <a:avLst>
              <a:gd name="adj" fmla="val 11124"/>
            </a:avLst>
          </a:prstGeom>
          <a:solidFill>
            <a:srgbClr val="FFFFFF"/>
          </a:solidFill>
          <a:ln w="15875">
            <a:solidFill>
              <a:srgbClr val="9A9A9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Corporate User PCs -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8246" y="2527865"/>
            <a:ext cx="256032" cy="256032"/>
          </a:xfrm>
          <a:prstGeom prst="rect">
            <a:avLst/>
          </a:prstGeom>
        </p:spPr>
      </p:pic>
      <p:sp>
        <p:nvSpPr>
          <p:cNvPr id="23" name="Corporate User PCs - text"/>
          <p:cNvSpPr txBox="1"/>
          <p:nvPr/>
        </p:nvSpPr>
        <p:spPr>
          <a:xfrm>
            <a:off x="6505718" y="2327084"/>
            <a:ext cx="778335" cy="65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User PCs</a:t>
            </a:r>
            <a:endParaRPr lang="en-US" sz="1100" dirty="0"/>
          </a:p>
        </p:txBody>
      </p:sp>
      <p:sp>
        <p:nvSpPr>
          <p:cNvPr id="24" name="Corporate VLAN - box"/>
          <p:cNvSpPr/>
          <p:nvPr/>
        </p:nvSpPr>
        <p:spPr>
          <a:xfrm>
            <a:off x="2998929" y="3704479"/>
            <a:ext cx="2119412" cy="1004166"/>
          </a:xfrm>
          <a:prstGeom prst="roundRect">
            <a:avLst>
              <a:gd name="adj" fmla="val 7285"/>
            </a:avLst>
          </a:prstGeom>
          <a:solidFill>
            <a:srgbClr val="FFF0D6"/>
          </a:solidFill>
          <a:ln w="15875">
            <a:solidFill>
              <a:srgbClr val="F28C0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Corporate VLAN -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3521" y="4078546"/>
            <a:ext cx="256032" cy="256032"/>
          </a:xfrm>
          <a:prstGeom prst="rect">
            <a:avLst/>
          </a:prstGeom>
        </p:spPr>
      </p:pic>
      <p:sp>
        <p:nvSpPr>
          <p:cNvPr id="26" name="Corporate VLAN - text"/>
          <p:cNvSpPr txBox="1"/>
          <p:nvPr/>
        </p:nvSpPr>
        <p:spPr>
          <a:xfrm>
            <a:off x="3510993" y="3704479"/>
            <a:ext cx="1515908" cy="1004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VLAN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IoT segregation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 rules unknown</a:t>
            </a:r>
            <a:endParaRPr lang="en-US" sz="1300" dirty="0"/>
          </a:p>
        </p:txBody>
      </p:sp>
      <p:sp>
        <p:nvSpPr>
          <p:cNvPr id="27" name="Lateral movement risk - box"/>
          <p:cNvSpPr/>
          <p:nvPr/>
        </p:nvSpPr>
        <p:spPr>
          <a:xfrm>
            <a:off x="2798985" y="5517309"/>
            <a:ext cx="2519301" cy="888642"/>
          </a:xfrm>
          <a:prstGeom prst="roundRect">
            <a:avLst>
              <a:gd name="adj" fmla="val 8232"/>
            </a:avLst>
          </a:prstGeom>
          <a:solidFill>
            <a:srgbClr val="FDE4E4"/>
          </a:solidFill>
          <a:ln w="15875">
            <a:solidFill>
              <a:srgbClr val="E31B2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Lateral movement risk -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3577" y="5833614"/>
            <a:ext cx="256032" cy="256032"/>
          </a:xfrm>
          <a:prstGeom prst="rect">
            <a:avLst/>
          </a:prstGeom>
        </p:spPr>
      </p:pic>
      <p:sp>
        <p:nvSpPr>
          <p:cNvPr id="29" name="Lateral movement risk - text"/>
          <p:cNvSpPr txBox="1"/>
          <p:nvPr/>
        </p:nvSpPr>
        <p:spPr>
          <a:xfrm>
            <a:off x="3311049" y="5517309"/>
            <a:ext cx="1915797" cy="888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risk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+ CCTV + Corp share path</a:t>
            </a:r>
            <a:endParaRPr lang="en-US" sz="1200" dirty="0"/>
          </a:p>
        </p:txBody>
      </p:sp>
      <p:sp>
        <p:nvSpPr>
          <p:cNvPr id="30" name="CCURE Server .90 - box"/>
          <p:cNvSpPr/>
          <p:nvPr/>
        </p:nvSpPr>
        <p:spPr>
          <a:xfrm>
            <a:off x="8739558" y="1162962"/>
            <a:ext cx="2545960" cy="866426"/>
          </a:xfrm>
          <a:prstGeom prst="roundRect">
            <a:avLst>
              <a:gd name="adj" fmla="val 8443"/>
            </a:avLst>
          </a:prstGeom>
          <a:solidFill>
            <a:srgbClr val="FDE4E4"/>
          </a:solidFill>
          <a:ln w="15875">
            <a:solidFill>
              <a:srgbClr val="E31B2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CCURE Server .90 -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4150" y="1468159"/>
            <a:ext cx="256032" cy="256032"/>
          </a:xfrm>
          <a:prstGeom prst="rect">
            <a:avLst/>
          </a:prstGeom>
        </p:spPr>
      </p:pic>
      <p:sp>
        <p:nvSpPr>
          <p:cNvPr id="32" name="CCURE Server .90 - text"/>
          <p:cNvSpPr txBox="1"/>
          <p:nvPr/>
        </p:nvSpPr>
        <p:spPr>
          <a:xfrm>
            <a:off x="9251622" y="1162962"/>
            <a:ext cx="1942456" cy="866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CCURE Server 10.10.103.90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2012 R2 (EOL)</a:t>
            </a:r>
            <a:endParaRPr lang="en-US" sz="1200" dirty="0"/>
          </a:p>
        </p:txBody>
      </p:sp>
      <p:sp>
        <p:nvSpPr>
          <p:cNvPr id="33" name="CCURE Server .60 - box"/>
          <p:cNvSpPr/>
          <p:nvPr/>
        </p:nvSpPr>
        <p:spPr>
          <a:xfrm>
            <a:off x="8739558" y="3704479"/>
            <a:ext cx="2545960" cy="870869"/>
          </a:xfrm>
          <a:prstGeom prst="roundRect">
            <a:avLst>
              <a:gd name="adj" fmla="val 8400"/>
            </a:avLst>
          </a:prstGeom>
          <a:solidFill>
            <a:srgbClr val="E4F3E6"/>
          </a:solidFill>
          <a:ln w="15875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34" name="CCURE Server .60 -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4150" y="4011898"/>
            <a:ext cx="256032" cy="256032"/>
          </a:xfrm>
          <a:prstGeom prst="rect">
            <a:avLst/>
          </a:prstGeom>
        </p:spPr>
      </p:pic>
      <p:sp>
        <p:nvSpPr>
          <p:cNvPr id="35" name="CCURE Server .60 - text"/>
          <p:cNvSpPr txBox="1"/>
          <p:nvPr/>
        </p:nvSpPr>
        <p:spPr>
          <a:xfrm>
            <a:off x="9251622" y="3704479"/>
            <a:ext cx="1942456" cy="870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CCURE Server 10.10.103.60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Like-for-like replacement</a:t>
            </a:r>
            <a:endParaRPr lang="en-US" sz="1200" dirty="0"/>
          </a:p>
        </p:txBody>
      </p:sp>
      <p:sp>
        <p:nvSpPr>
          <p:cNvPr id="36" name="Physical Security Team - box"/>
          <p:cNvSpPr/>
          <p:nvPr/>
        </p:nvSpPr>
        <p:spPr>
          <a:xfrm>
            <a:off x="8739558" y="5495093"/>
            <a:ext cx="2545960" cy="830881"/>
          </a:xfrm>
          <a:prstGeom prst="roundRect">
            <a:avLst>
              <a:gd name="adj" fmla="val 8804"/>
            </a:avLst>
          </a:prstGeom>
          <a:solidFill>
            <a:srgbClr val="FFFFFF"/>
          </a:solidFill>
          <a:ln w="15875">
            <a:solidFill>
              <a:srgbClr val="9A9A9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pic>
        <p:nvPicPr>
          <p:cNvPr id="37" name="Physical Security Team -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4150" y="5782517"/>
            <a:ext cx="256032" cy="256032"/>
          </a:xfrm>
          <a:prstGeom prst="rect">
            <a:avLst/>
          </a:prstGeom>
        </p:spPr>
      </p:pic>
      <p:sp>
        <p:nvSpPr>
          <p:cNvPr id="38" name="Physical Security Team - text"/>
          <p:cNvSpPr txBox="1"/>
          <p:nvPr/>
        </p:nvSpPr>
        <p:spPr>
          <a:xfrm>
            <a:off x="9251622" y="5495093"/>
            <a:ext cx="1942456" cy="83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Security Team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login, no AD</a:t>
            </a:r>
            <a:endParaRPr lang="en-US" sz="1200" dirty="0"/>
          </a:p>
        </p:txBody>
      </p:sp>
      <p:sp>
        <p:nvSpPr>
          <p:cNvPr id="39" name="Readers to Door Panel 1"/>
          <p:cNvSpPr/>
          <p:nvPr/>
        </p:nvSpPr>
        <p:spPr>
          <a:xfrm>
            <a:off x="1683739" y="1820558"/>
            <a:ext cx="0" cy="506526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  <a:tailEnd type="triangle"/>
          </a:ln>
        </p:spPr>
      </p:sp>
      <p:sp>
        <p:nvSpPr>
          <p:cNvPr id="40" name="Readers to Door Panel 2 - seg 1"/>
          <p:cNvSpPr/>
          <p:nvPr/>
        </p:nvSpPr>
        <p:spPr>
          <a:xfrm>
            <a:off x="2443528" y="1820558"/>
            <a:ext cx="0" cy="231047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</a:ln>
        </p:spPr>
      </p:sp>
      <p:sp>
        <p:nvSpPr>
          <p:cNvPr id="41" name="Readers to Door Panel 2 - seg 2"/>
          <p:cNvSpPr/>
          <p:nvPr/>
        </p:nvSpPr>
        <p:spPr>
          <a:xfrm>
            <a:off x="2443528" y="2051605"/>
            <a:ext cx="866426" cy="0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</a:ln>
        </p:spPr>
      </p:sp>
      <p:sp>
        <p:nvSpPr>
          <p:cNvPr id="42" name="Readers to Door Panel 2 - seg 3"/>
          <p:cNvSpPr/>
          <p:nvPr/>
        </p:nvSpPr>
        <p:spPr>
          <a:xfrm>
            <a:off x="3309954" y="2051605"/>
            <a:ext cx="0" cy="275479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  <a:tailEnd type="triangle"/>
          </a:ln>
        </p:spPr>
      </p:sp>
      <p:sp>
        <p:nvSpPr>
          <p:cNvPr id="43" name="Door Panel 1 to VLAN - seg 1"/>
          <p:cNvSpPr/>
          <p:nvPr/>
        </p:nvSpPr>
        <p:spPr>
          <a:xfrm>
            <a:off x="1683739" y="2984679"/>
            <a:ext cx="0" cy="355457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</a:ln>
        </p:spPr>
      </p:sp>
      <p:sp>
        <p:nvSpPr>
          <p:cNvPr id="44" name="Door Panel 1 to VLAN - seg 2"/>
          <p:cNvSpPr/>
          <p:nvPr/>
        </p:nvSpPr>
        <p:spPr>
          <a:xfrm>
            <a:off x="1683739" y="3340136"/>
            <a:ext cx="1492919" cy="0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</a:ln>
        </p:spPr>
      </p:sp>
      <p:sp>
        <p:nvSpPr>
          <p:cNvPr id="45" name="Door Panel 1 to VLAN - seg 3"/>
          <p:cNvSpPr/>
          <p:nvPr/>
        </p:nvSpPr>
        <p:spPr>
          <a:xfrm>
            <a:off x="3176658" y="3340136"/>
            <a:ext cx="0" cy="364343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</a:ln>
        </p:spPr>
      </p:sp>
      <p:sp>
        <p:nvSpPr>
          <p:cNvPr id="46" name="Door Panel 2 to VLAN"/>
          <p:cNvSpPr/>
          <p:nvPr/>
        </p:nvSpPr>
        <p:spPr>
          <a:xfrm>
            <a:off x="3341057" y="2984679"/>
            <a:ext cx="0" cy="719800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</a:ln>
        </p:spPr>
      </p:sp>
      <p:sp>
        <p:nvSpPr>
          <p:cNvPr id="47" name="CCTV to VLAN"/>
          <p:cNvSpPr/>
          <p:nvPr/>
        </p:nvSpPr>
        <p:spPr>
          <a:xfrm>
            <a:off x="4785100" y="2984679"/>
            <a:ext cx="0" cy="719800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</a:ln>
        </p:spPr>
      </p:sp>
      <p:sp>
        <p:nvSpPr>
          <p:cNvPr id="48" name="PCs to VLAN - seg 1"/>
          <p:cNvSpPr/>
          <p:nvPr/>
        </p:nvSpPr>
        <p:spPr>
          <a:xfrm>
            <a:off x="6682351" y="2984679"/>
            <a:ext cx="0" cy="355457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</a:ln>
        </p:spPr>
      </p:sp>
      <p:sp>
        <p:nvSpPr>
          <p:cNvPr id="49" name="PCs to VLAN - seg 2"/>
          <p:cNvSpPr/>
          <p:nvPr/>
        </p:nvSpPr>
        <p:spPr>
          <a:xfrm flipH="1">
            <a:off x="4949499" y="3340136"/>
            <a:ext cx="1732852" cy="0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</a:ln>
        </p:spPr>
      </p:sp>
      <p:sp>
        <p:nvSpPr>
          <p:cNvPr id="50" name="PCs to VLAN - seg 3"/>
          <p:cNvSpPr/>
          <p:nvPr/>
        </p:nvSpPr>
        <p:spPr>
          <a:xfrm>
            <a:off x="4949499" y="3340136"/>
            <a:ext cx="0" cy="364343"/>
          </a:xfrm>
          <a:prstGeom prst="line">
            <a:avLst/>
          </a:prstGeom>
          <a:noFill/>
          <a:ln w="22225">
            <a:solidFill>
              <a:srgbClr val="1F1F1F"/>
            </a:solidFill>
            <a:prstDash val="solid"/>
          </a:ln>
        </p:spPr>
      </p:sp>
      <p:sp>
        <p:nvSpPr>
          <p:cNvPr id="51" name="VLAN to risk"/>
          <p:cNvSpPr/>
          <p:nvPr/>
        </p:nvSpPr>
        <p:spPr>
          <a:xfrm>
            <a:off x="4060857" y="4708645"/>
            <a:ext cx="0" cy="808664"/>
          </a:xfrm>
          <a:prstGeom prst="line">
            <a:avLst/>
          </a:prstGeom>
          <a:noFill/>
          <a:ln w="19050">
            <a:solidFill>
              <a:srgbClr val="E31B23"/>
            </a:solidFill>
            <a:prstDash val="dash"/>
          </a:ln>
        </p:spPr>
      </p:sp>
      <p:sp>
        <p:nvSpPr>
          <p:cNvPr id="52" name="VLAN to CCURE .90 - seg 1"/>
          <p:cNvSpPr/>
          <p:nvPr/>
        </p:nvSpPr>
        <p:spPr>
          <a:xfrm>
            <a:off x="5118341" y="4206562"/>
            <a:ext cx="2888087" cy="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53" name="VLAN to CCURE .90 - seg 2"/>
          <p:cNvSpPr/>
          <p:nvPr/>
        </p:nvSpPr>
        <p:spPr>
          <a:xfrm flipV="1">
            <a:off x="8006428" y="1598397"/>
            <a:ext cx="0" cy="2608165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54" name="VLAN to CCURE .90 - seg 3"/>
          <p:cNvSpPr/>
          <p:nvPr/>
        </p:nvSpPr>
        <p:spPr>
          <a:xfrm>
            <a:off x="8006428" y="1598397"/>
            <a:ext cx="733130" cy="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55" name="Unencrypted label"/>
          <p:cNvSpPr txBox="1"/>
          <p:nvPr/>
        </p:nvSpPr>
        <p:spPr>
          <a:xfrm>
            <a:off x="5602265" y="4087690"/>
            <a:ext cx="192024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/ ad-hoc rules</a:t>
            </a:r>
            <a:endParaRPr lang="en-US" sz="1000" dirty="0"/>
          </a:p>
        </p:txBody>
      </p:sp>
      <p:sp>
        <p:nvSpPr>
          <p:cNvPr id="56" name="Migration"/>
          <p:cNvSpPr/>
          <p:nvPr/>
        </p:nvSpPr>
        <p:spPr>
          <a:xfrm>
            <a:off x="10010317" y="2029388"/>
            <a:ext cx="0" cy="1675091"/>
          </a:xfrm>
          <a:prstGeom prst="line">
            <a:avLst/>
          </a:prstGeom>
          <a:noFill/>
          <a:ln w="19050">
            <a:solidFill>
              <a:srgbClr val="1F1F1F"/>
            </a:solidFill>
            <a:prstDash val="dash"/>
            <a:tailEnd type="triangle"/>
          </a:ln>
        </p:spPr>
      </p:sp>
      <p:sp>
        <p:nvSpPr>
          <p:cNvPr id="57" name="Migration label"/>
          <p:cNvSpPr txBox="1"/>
          <p:nvPr/>
        </p:nvSpPr>
        <p:spPr>
          <a:xfrm>
            <a:off x="9644557" y="2732511"/>
            <a:ext cx="731520" cy="237744"/>
          </a:xfrm>
          <a:prstGeom prst="rect">
            <a:avLst/>
          </a:prstGeom>
          <a:solidFill>
            <a:srgbClr val="EEF4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00" dirty="0"/>
          </a:p>
        </p:txBody>
      </p:sp>
      <p:sp>
        <p:nvSpPr>
          <p:cNvPr id="58" name="Security Team to CCURE .90 - seg 1"/>
          <p:cNvSpPr/>
          <p:nvPr/>
        </p:nvSpPr>
        <p:spPr>
          <a:xfrm>
            <a:off x="11285518" y="5908312"/>
            <a:ext cx="186615" cy="0"/>
          </a:xfrm>
          <a:prstGeom prst="line">
            <a:avLst/>
          </a:prstGeom>
          <a:noFill/>
          <a:ln w="19050">
            <a:solidFill>
              <a:srgbClr val="1F1F1F"/>
            </a:solidFill>
            <a:prstDash val="solid"/>
          </a:ln>
        </p:spPr>
      </p:sp>
      <p:sp>
        <p:nvSpPr>
          <p:cNvPr id="59" name="Security Team to CCURE .90 - seg 2"/>
          <p:cNvSpPr/>
          <p:nvPr/>
        </p:nvSpPr>
        <p:spPr>
          <a:xfrm flipV="1">
            <a:off x="11472133" y="1598397"/>
            <a:ext cx="0" cy="4309915"/>
          </a:xfrm>
          <a:prstGeom prst="line">
            <a:avLst/>
          </a:prstGeom>
          <a:noFill/>
          <a:ln w="19050">
            <a:solidFill>
              <a:srgbClr val="1F1F1F"/>
            </a:solidFill>
            <a:prstDash val="solid"/>
          </a:ln>
        </p:spPr>
      </p:sp>
      <p:sp>
        <p:nvSpPr>
          <p:cNvPr id="60" name="Security Team to CCURE .90 - seg 3"/>
          <p:cNvSpPr/>
          <p:nvPr/>
        </p:nvSpPr>
        <p:spPr>
          <a:xfrm flipH="1">
            <a:off x="11285518" y="1598397"/>
            <a:ext cx="186615" cy="0"/>
          </a:xfrm>
          <a:prstGeom prst="line">
            <a:avLst/>
          </a:prstGeom>
          <a:noFill/>
          <a:ln w="19050">
            <a:solidFill>
              <a:srgbClr val="1F1F1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shurst Network Diagrams">
  <a:themeElements>
    <a:clrScheme name="Ashurst Network Diagrams">
      <a:dk1>
        <a:srgbClr val="1F1F1F"/>
      </a:dk1>
      <a:lt1>
        <a:srgbClr val="FFFFFF"/>
      </a:lt1>
      <a:dk2>
        <a:srgbClr val="444444"/>
      </a:dk2>
      <a:lt2>
        <a:srgbClr val="F2F2F2"/>
      </a:lt2>
      <a:accent1>
        <a:srgbClr val="E31B23"/>
      </a:accent1>
      <a:accent2>
        <a:srgbClr val="1A73E8"/>
      </a:accent2>
      <a:accent3>
        <a:srgbClr val="F28C00"/>
      </a:accent3>
      <a:accent4>
        <a:srgbClr val="0EA5E9"/>
      </a:accent4>
      <a:accent5>
        <a:srgbClr val="2E7D32"/>
      </a:accent5>
      <a:accent6>
        <a:srgbClr val="C9A227"/>
      </a:accent6>
      <a:hlink>
        <a:srgbClr val="1A73E8"/>
      </a:hlink>
      <a:folHlink>
        <a:srgbClr val="7B61FF"/>
      </a:folHlink>
    </a:clrScheme>
    <a:fontScheme name="Ashurst Network Diagram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Ashurst network diagrams (editable)</dc:title>
  <dc:subject>PptxGenJS Presentation</dc:subject>
  <dc:creator>Network diagrams</dc:creator>
  <cp:lastModifiedBy>Network diagrams</cp:lastModifiedBy>
  <cp:revision>1</cp:revision>
  <dcterms:created xsi:type="dcterms:W3CDTF">2026-10-29T07:45:21Z</dcterms:created>
  <dcterms:modified xsi:type="dcterms:W3CDTF">2026-10-29T07:45:21Z</dcterms:modified>
</cp:coreProperties>
</file>